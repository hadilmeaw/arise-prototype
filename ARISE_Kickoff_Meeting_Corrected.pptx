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C2E"/>
        </a:solidFill>
        <a:effectLst/>
      </p:bgPr>
    </p:bg>
    <p:spTree>
      <p:nvGrpSpPr>
        <p:cNvPr id="1" name=""/>
        <p:cNvGrpSpPr/>
        <p:nvPr/>
      </p:nvGrpSpPr>
      <p:grpSpPr/>
      <p:sp>
        <p:nvSpPr>
          <p:cNvPr id="2" name="Rounded Rectangle 1"/>
          <p:cNvSpPr/>
          <p:nvPr/>
        </p:nvSpPr>
        <p:spPr>
          <a:xfrm>
            <a:off x="4754880" y="2331720"/>
            <a:ext cx="2743200" cy="1280160"/>
          </a:xfrm>
          <a:prstGeom prst="roundRect">
            <a:avLst>
              <a:gd name="adj" fmla="val 12000"/>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920240"/>
            <a:ext cx="11247120" cy="365760"/>
          </a:xfrm>
          <a:prstGeom prst="rect">
            <a:avLst/>
          </a:prstGeom>
          <a:noFill/>
        </p:spPr>
        <p:txBody>
          <a:bodyPr wrap="square" anchor="t" lIns="36576" rIns="36576" tIns="18288" bIns="18288">
            <a:spAutoFit/>
          </a:bodyPr>
          <a:lstStyle/>
          <a:p>
            <a:pPr algn="ctr"/>
            <a:r>
              <a:rPr sz="1600" b="1" i="0">
                <a:solidFill>
                  <a:srgbClr val="55C0EE"/>
                </a:solidFill>
                <a:latin typeface="Calibri"/>
              </a:rPr>
              <a:t>KICK-OFF MEETING</a:t>
            </a:r>
          </a:p>
        </p:txBody>
      </p:sp>
      <p:sp>
        <p:nvSpPr>
          <p:cNvPr id="4" name="TextBox 3"/>
          <p:cNvSpPr txBox="1"/>
          <p:nvPr/>
        </p:nvSpPr>
        <p:spPr>
          <a:xfrm>
            <a:off x="457200" y="2286000"/>
            <a:ext cx="11247120" cy="1371600"/>
          </a:xfrm>
          <a:prstGeom prst="rect">
            <a:avLst/>
          </a:prstGeom>
          <a:noFill/>
        </p:spPr>
        <p:txBody>
          <a:bodyPr wrap="square" anchor="ctr" lIns="36576" rIns="36576" tIns="18288" bIns="18288">
            <a:spAutoFit/>
          </a:bodyPr>
          <a:lstStyle/>
          <a:p>
            <a:pPr algn="ctr"/>
            <a:r>
              <a:rPr sz="8800" b="1" i="0">
                <a:solidFill>
                  <a:srgbClr val="FFFFFF"/>
                </a:solidFill>
                <a:latin typeface="Calibri"/>
              </a:rPr>
              <a:t>ARISE</a:t>
            </a:r>
          </a:p>
        </p:txBody>
      </p:sp>
      <p:sp>
        <p:nvSpPr>
          <p:cNvPr id="5" name="TextBox 4"/>
          <p:cNvSpPr txBox="1"/>
          <p:nvPr/>
        </p:nvSpPr>
        <p:spPr>
          <a:xfrm>
            <a:off x="457200" y="3749039"/>
            <a:ext cx="11247120" cy="457200"/>
          </a:xfrm>
          <a:prstGeom prst="rect">
            <a:avLst/>
          </a:prstGeom>
          <a:noFill/>
        </p:spPr>
        <p:txBody>
          <a:bodyPr wrap="square" anchor="t" lIns="36576" rIns="36576" tIns="18288" bIns="18288">
            <a:spAutoFit/>
          </a:bodyPr>
          <a:lstStyle/>
          <a:p>
            <a:pPr algn="ctr"/>
            <a:r>
              <a:rPr sz="2200" b="0" i="0">
                <a:solidFill>
                  <a:srgbClr val="8A8A8A"/>
                </a:solidFill>
                <a:latin typeface="Calibri"/>
              </a:rPr>
              <a:t>Augmented Rehabilitation &amp; Intelligent System for Enhancement</a:t>
            </a:r>
          </a:p>
        </p:txBody>
      </p:sp>
      <p:sp>
        <p:nvSpPr>
          <p:cNvPr id="6" name="TextBox 5"/>
          <p:cNvSpPr txBox="1"/>
          <p:nvPr/>
        </p:nvSpPr>
        <p:spPr>
          <a:xfrm>
            <a:off x="457200" y="4297680"/>
            <a:ext cx="11247120" cy="365760"/>
          </a:xfrm>
          <a:prstGeom prst="rect">
            <a:avLst/>
          </a:prstGeom>
          <a:noFill/>
        </p:spPr>
        <p:txBody>
          <a:bodyPr wrap="square" anchor="t" lIns="36576" rIns="36576" tIns="18288" bIns="18288">
            <a:spAutoFit/>
          </a:bodyPr>
          <a:lstStyle/>
          <a:p>
            <a:pPr algn="ctr"/>
            <a:r>
              <a:rPr sz="1600" b="0" i="0">
                <a:solidFill>
                  <a:srgbClr val="FFFFFF"/>
                </a:solidFill>
                <a:latin typeface="Calibri"/>
              </a:rPr>
              <a:t>The first proactive "AI Coach" for Sit-to-Stand (STS) rehabilitation</a:t>
            </a:r>
          </a:p>
        </p:txBody>
      </p:sp>
      <p:sp>
        <p:nvSpPr>
          <p:cNvPr id="7" name="Rounded Rectangle 6"/>
          <p:cNvSpPr/>
          <p:nvPr/>
        </p:nvSpPr>
        <p:spPr>
          <a:xfrm>
            <a:off x="3931920" y="5074920"/>
            <a:ext cx="4297680" cy="1371600"/>
          </a:xfrm>
          <a:prstGeom prst="roundRect">
            <a:avLst>
              <a:gd name="adj" fmla="val 12000"/>
            </a:avLst>
          </a:prstGeom>
          <a:solidFill>
            <a:srgbClr val="0F1C2E"/>
          </a:solidFill>
          <a:ln w="25400">
            <a:solidFill>
              <a:srgbClr val="1F9C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0" y="5212080"/>
            <a:ext cx="4297680" cy="320040"/>
          </a:xfrm>
          <a:prstGeom prst="rect">
            <a:avLst/>
          </a:prstGeom>
          <a:noFill/>
        </p:spPr>
        <p:txBody>
          <a:bodyPr wrap="square" anchor="t" lIns="36576" rIns="36576" tIns="18288" bIns="18288">
            <a:spAutoFit/>
          </a:bodyPr>
          <a:lstStyle/>
          <a:p>
            <a:pPr algn="ctr"/>
            <a:r>
              <a:rPr sz="1400" b="0" i="0">
                <a:solidFill>
                  <a:srgbClr val="FFFFFF"/>
                </a:solidFill>
                <a:latin typeface="Calibri"/>
              </a:rPr>
              <a:t>Start Date:</a:t>
            </a:r>
          </a:p>
        </p:txBody>
      </p:sp>
      <p:sp>
        <p:nvSpPr>
          <p:cNvPr id="9" name="TextBox 8"/>
          <p:cNvSpPr txBox="1"/>
          <p:nvPr/>
        </p:nvSpPr>
        <p:spPr>
          <a:xfrm>
            <a:off x="3931920" y="5532120"/>
            <a:ext cx="4297680" cy="365760"/>
          </a:xfrm>
          <a:prstGeom prst="rect">
            <a:avLst/>
          </a:prstGeom>
          <a:noFill/>
        </p:spPr>
        <p:txBody>
          <a:bodyPr wrap="square" anchor="t" lIns="36576" rIns="36576" tIns="18288" bIns="18288">
            <a:spAutoFit/>
          </a:bodyPr>
          <a:lstStyle/>
          <a:p>
            <a:pPr algn="ctr"/>
            <a:r>
              <a:rPr sz="1800" b="1" i="0">
                <a:solidFill>
                  <a:srgbClr val="1F9C88"/>
                </a:solidFill>
                <a:latin typeface="Calibri"/>
              </a:rPr>
              <a:t>June 18, 2026</a:t>
            </a:r>
          </a:p>
        </p:txBody>
      </p:sp>
      <p:sp>
        <p:nvSpPr>
          <p:cNvPr id="10" name="TextBox 9"/>
          <p:cNvSpPr txBox="1"/>
          <p:nvPr/>
        </p:nvSpPr>
        <p:spPr>
          <a:xfrm>
            <a:off x="3931920" y="5916168"/>
            <a:ext cx="4297680" cy="274320"/>
          </a:xfrm>
          <a:prstGeom prst="rect">
            <a:avLst/>
          </a:prstGeom>
          <a:noFill/>
        </p:spPr>
        <p:txBody>
          <a:bodyPr wrap="square" anchor="t" lIns="36576" rIns="36576" tIns="18288" bIns="18288">
            <a:spAutoFit/>
          </a:bodyPr>
          <a:lstStyle/>
          <a:p>
            <a:pPr algn="ctr"/>
            <a:r>
              <a:rPr sz="1400" b="0" i="0">
                <a:solidFill>
                  <a:srgbClr val="FFFFFF"/>
                </a:solidFill>
                <a:latin typeface="Calibri"/>
              </a:rPr>
              <a:t>Expected End:</a:t>
            </a:r>
          </a:p>
        </p:txBody>
      </p:sp>
      <p:sp>
        <p:nvSpPr>
          <p:cNvPr id="11" name="TextBox 10"/>
          <p:cNvSpPr txBox="1"/>
          <p:nvPr/>
        </p:nvSpPr>
        <p:spPr>
          <a:xfrm>
            <a:off x="3931920" y="6153912"/>
            <a:ext cx="4297680" cy="320040"/>
          </a:xfrm>
          <a:prstGeom prst="rect">
            <a:avLst/>
          </a:prstGeom>
          <a:noFill/>
        </p:spPr>
        <p:txBody>
          <a:bodyPr wrap="square" anchor="t" lIns="36576" rIns="36576" tIns="18288" bIns="18288">
            <a:spAutoFit/>
          </a:bodyPr>
          <a:lstStyle/>
          <a:p>
            <a:pPr algn="ctr"/>
            <a:r>
              <a:rPr sz="1800" b="1" i="0">
                <a:solidFill>
                  <a:srgbClr val="1F9C88"/>
                </a:solidFill>
                <a:latin typeface="Calibri"/>
              </a:rPr>
              <a:t>December 18,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The Problem and the Vision</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371600"/>
            <a:ext cx="411480" cy="411480"/>
          </a:xfrm>
          <a:prstGeom prst="roundRect">
            <a:avLst>
              <a:gd name="adj" fmla="val 25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411480" cy="411480"/>
          </a:xfrm>
          <a:prstGeom prst="rect">
            <a:avLst/>
          </a:prstGeom>
          <a:noFill/>
        </p:spPr>
        <p:txBody>
          <a:bodyPr wrap="square" anchor="ctr" lIns="36576" rIns="36576" tIns="18288" bIns="18288">
            <a:spAutoFit/>
          </a:bodyPr>
          <a:lstStyle/>
          <a:p>
            <a:pPr algn="ctr"/>
            <a:r>
              <a:rPr sz="1400" b="1" i="0">
                <a:solidFill>
                  <a:srgbClr val="FFFFFF"/>
                </a:solidFill>
                <a:latin typeface="Calibri"/>
              </a:rPr>
              <a:t>!</a:t>
            </a:r>
          </a:p>
        </p:txBody>
      </p:sp>
      <p:sp>
        <p:nvSpPr>
          <p:cNvPr id="6" name="TextBox 5"/>
          <p:cNvSpPr txBox="1"/>
          <p:nvPr/>
        </p:nvSpPr>
        <p:spPr>
          <a:xfrm>
            <a:off x="1051560" y="1371600"/>
            <a:ext cx="6035040" cy="365760"/>
          </a:xfrm>
          <a:prstGeom prst="rect">
            <a:avLst/>
          </a:prstGeom>
          <a:noFill/>
        </p:spPr>
        <p:txBody>
          <a:bodyPr wrap="square" anchor="t" lIns="36576" rIns="36576" tIns="18288" bIns="18288">
            <a:spAutoFit/>
          </a:bodyPr>
          <a:lstStyle/>
          <a:p>
            <a:pPr algn="l"/>
            <a:r>
              <a:rPr sz="1400" b="1" i="0">
                <a:solidFill>
                  <a:srgbClr val="0F1C2E"/>
                </a:solidFill>
                <a:latin typeface="Calibri"/>
              </a:rPr>
              <a:t>The Problem:</a:t>
            </a:r>
          </a:p>
        </p:txBody>
      </p:sp>
      <p:sp>
        <p:nvSpPr>
          <p:cNvPr id="7" name="TextBox 6"/>
          <p:cNvSpPr txBox="1"/>
          <p:nvPr/>
        </p:nvSpPr>
        <p:spPr>
          <a:xfrm>
            <a:off x="1051560" y="1783080"/>
            <a:ext cx="6035040" cy="914400"/>
          </a:xfrm>
          <a:prstGeom prst="rect">
            <a:avLst/>
          </a:prstGeom>
          <a:noFill/>
        </p:spPr>
        <p:txBody>
          <a:bodyPr wrap="square" anchor="t" lIns="36576" rIns="36576" tIns="18288" bIns="18288">
            <a:spAutoFit/>
          </a:bodyPr>
          <a:lstStyle/>
          <a:p>
            <a:pPr algn="l"/>
            <a:r>
              <a:rPr sz="1200" b="0" i="0">
                <a:solidFill>
                  <a:srgbClr val="556575"/>
                </a:solidFill>
                <a:latin typeface="Calibri"/>
              </a:rPr>
              <a:t>Discontinuity of care in motor rehabilitation (STS). Incorrect implementation at home and lack of objective data.</a:t>
            </a:r>
          </a:p>
        </p:txBody>
      </p:sp>
      <p:sp>
        <p:nvSpPr>
          <p:cNvPr id="8" name="Rounded Rectangle 7"/>
          <p:cNvSpPr/>
          <p:nvPr/>
        </p:nvSpPr>
        <p:spPr>
          <a:xfrm>
            <a:off x="502920" y="2834640"/>
            <a:ext cx="411480" cy="411480"/>
          </a:xfrm>
          <a:prstGeom prst="roundRect">
            <a:avLst>
              <a:gd name="adj" fmla="val 25000"/>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834640"/>
            <a:ext cx="411480" cy="411480"/>
          </a:xfrm>
          <a:prstGeom prst="rect">
            <a:avLst/>
          </a:prstGeom>
          <a:noFill/>
        </p:spPr>
        <p:txBody>
          <a:bodyPr wrap="square" anchor="ctr" lIns="36576" rIns="36576" tIns="18288" bIns="18288">
            <a:spAutoFit/>
          </a:bodyPr>
          <a:lstStyle/>
          <a:p>
            <a:pPr algn="ctr"/>
            <a:r>
              <a:rPr sz="1400" b="1" i="0">
                <a:solidFill>
                  <a:srgbClr val="FFFFFF"/>
                </a:solidFill>
                <a:latin typeface="Calibri"/>
              </a:rPr>
              <a:t>+</a:t>
            </a:r>
          </a:p>
        </p:txBody>
      </p:sp>
      <p:sp>
        <p:nvSpPr>
          <p:cNvPr id="10" name="TextBox 9"/>
          <p:cNvSpPr txBox="1"/>
          <p:nvPr/>
        </p:nvSpPr>
        <p:spPr>
          <a:xfrm>
            <a:off x="1051560" y="2834640"/>
            <a:ext cx="6035040" cy="365760"/>
          </a:xfrm>
          <a:prstGeom prst="rect">
            <a:avLst/>
          </a:prstGeom>
          <a:noFill/>
        </p:spPr>
        <p:txBody>
          <a:bodyPr wrap="square" anchor="t" lIns="36576" rIns="36576" tIns="18288" bIns="18288">
            <a:spAutoFit/>
          </a:bodyPr>
          <a:lstStyle/>
          <a:p>
            <a:pPr algn="l"/>
            <a:r>
              <a:rPr sz="1400" b="1" i="0">
                <a:solidFill>
                  <a:srgbClr val="0F1C2E"/>
                </a:solidFill>
                <a:latin typeface="Calibri"/>
              </a:rPr>
              <a:t>The Solution:</a:t>
            </a:r>
          </a:p>
        </p:txBody>
      </p:sp>
      <p:sp>
        <p:nvSpPr>
          <p:cNvPr id="11" name="TextBox 10"/>
          <p:cNvSpPr txBox="1"/>
          <p:nvPr/>
        </p:nvSpPr>
        <p:spPr>
          <a:xfrm>
            <a:off x="1051560" y="3246120"/>
            <a:ext cx="6035040" cy="1097280"/>
          </a:xfrm>
          <a:prstGeom prst="rect">
            <a:avLst/>
          </a:prstGeom>
          <a:noFill/>
        </p:spPr>
        <p:txBody>
          <a:bodyPr wrap="square" anchor="t" lIns="36576" rIns="36576" tIns="18288" bIns="18288">
            <a:spAutoFit/>
          </a:bodyPr>
          <a:lstStyle/>
          <a:p>
            <a:pPr algn="l"/>
            <a:r>
              <a:rPr sz="1200" b="0" i="0">
                <a:solidFill>
                  <a:srgbClr val="556575"/>
                </a:solidFill>
                <a:latin typeface="Calibri"/>
              </a:rPr>
              <a:t>A product/service that acts as a "Virtual Therapist." Not just reactive estimation, but 3D measurement and proactive guidance (forecasting).</a:t>
            </a:r>
          </a:p>
        </p:txBody>
      </p:sp>
      <p:sp>
        <p:nvSpPr>
          <p:cNvPr id="12" name="Rounded Rectangle 11"/>
          <p:cNvSpPr/>
          <p:nvPr/>
        </p:nvSpPr>
        <p:spPr>
          <a:xfrm>
            <a:off x="502920" y="4572000"/>
            <a:ext cx="411480" cy="411480"/>
          </a:xfrm>
          <a:prstGeom prst="roundRect">
            <a:avLst>
              <a:gd name="adj" fmla="val 25000"/>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572000"/>
            <a:ext cx="411480" cy="411480"/>
          </a:xfrm>
          <a:prstGeom prst="rect">
            <a:avLst/>
          </a:prstGeom>
          <a:noFill/>
        </p:spPr>
        <p:txBody>
          <a:bodyPr wrap="square" anchor="ctr" lIns="36576" rIns="36576" tIns="18288" bIns="18288">
            <a:spAutoFit/>
          </a:bodyPr>
          <a:lstStyle/>
          <a:p>
            <a:pPr algn="ctr"/>
            <a:r>
              <a:rPr sz="1400" b="1" i="0">
                <a:solidFill>
                  <a:srgbClr val="FFFFFF"/>
                </a:solidFill>
                <a:latin typeface="Calibri"/>
              </a:rPr>
              <a:t>#</a:t>
            </a:r>
          </a:p>
        </p:txBody>
      </p:sp>
      <p:sp>
        <p:nvSpPr>
          <p:cNvPr id="14" name="TextBox 13"/>
          <p:cNvSpPr txBox="1"/>
          <p:nvPr/>
        </p:nvSpPr>
        <p:spPr>
          <a:xfrm>
            <a:off x="1051560" y="4572000"/>
            <a:ext cx="6035040" cy="365760"/>
          </a:xfrm>
          <a:prstGeom prst="rect">
            <a:avLst/>
          </a:prstGeom>
          <a:noFill/>
        </p:spPr>
        <p:txBody>
          <a:bodyPr wrap="square" anchor="t" lIns="36576" rIns="36576" tIns="18288" bIns="18288">
            <a:spAutoFit/>
          </a:bodyPr>
          <a:lstStyle/>
          <a:p>
            <a:pPr algn="l"/>
            <a:r>
              <a:rPr sz="1400" b="1" i="0">
                <a:solidFill>
                  <a:srgbClr val="0F1C2E"/>
                </a:solidFill>
                <a:latin typeface="Calibri"/>
              </a:rPr>
              <a:t>The 3 Pillars of ARISE:</a:t>
            </a:r>
          </a:p>
        </p:txBody>
      </p:sp>
      <p:sp>
        <p:nvSpPr>
          <p:cNvPr id="15" name="TextBox 14"/>
          <p:cNvSpPr txBox="1"/>
          <p:nvPr/>
        </p:nvSpPr>
        <p:spPr>
          <a:xfrm>
            <a:off x="1143000" y="4983480"/>
            <a:ext cx="5943600" cy="1554480"/>
          </a:xfrm>
          <a:prstGeom prst="rect">
            <a:avLst/>
          </a:prstGeom>
          <a:noFill/>
        </p:spPr>
        <p:txBody>
          <a:bodyPr wrap="square" anchor="t" lIns="36576" rIns="36576" tIns="18288" bIns="18288">
            <a:spAutoFit/>
          </a:bodyPr>
          <a:lstStyle/>
          <a:p>
            <a:pPr algn="l"/>
            <a:r>
              <a:rPr sz="1200" b="0" i="0">
                <a:solidFill>
                  <a:srgbClr val="556575"/>
                </a:solidFill>
                <a:latin typeface="Calibri"/>
              </a:rPr>
              <a:t>1.  Core AI (Measurement and Prediction)</a:t>
            </a:r>
          </a:p>
          <a:p>
            <a:pPr algn="l"/>
            <a:r>
              <a:rPr sz="1200" b="0" i="0">
                <a:solidFill>
                  <a:srgbClr val="556575"/>
                </a:solidFill>
                <a:latin typeface="Calibri"/>
              </a:rPr>
              <a:t>2.  "Coach" Edge Device</a:t>
            </a:r>
          </a:p>
          <a:p>
            <a:pPr algn="l"/>
            <a:r>
              <a:rPr sz="1200" b="0" i="0">
                <a:solidFill>
                  <a:srgbClr val="556575"/>
                </a:solidFill>
                <a:latin typeface="Calibri"/>
              </a:rPr>
              <a:t>3.  Clinical Cloud Dashboard</a:t>
            </a:r>
          </a:p>
        </p:txBody>
      </p:sp>
      <p:sp>
        <p:nvSpPr>
          <p:cNvPr id="16" name="Rounded Rectangle 15"/>
          <p:cNvSpPr/>
          <p:nvPr/>
        </p:nvSpPr>
        <p:spPr>
          <a:xfrm>
            <a:off x="6858000" y="1371600"/>
            <a:ext cx="4846320" cy="457200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3383280"/>
            <a:ext cx="4846320" cy="457200"/>
          </a:xfrm>
          <a:prstGeom prst="rect">
            <a:avLst/>
          </a:prstGeom>
          <a:noFill/>
        </p:spPr>
        <p:txBody>
          <a:bodyPr wrap="square" anchor="t" lIns="36576" rIns="36576" tIns="18288" bIns="18288">
            <a:spAutoFit/>
          </a:bodyPr>
          <a:lstStyle/>
          <a:p>
            <a:pPr algn="ctr"/>
            <a:r>
              <a:rPr sz="1200" b="0" i="1">
                <a:solidFill>
                  <a:srgbClr val="8A8A8A"/>
                </a:solidFill>
                <a:latin typeface="Calibri"/>
              </a:rPr>
              <a:t>[Photo of patient + therapist]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Project Objectives (TRL6)</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4340" y="2194560"/>
            <a:ext cx="3611880" cy="402336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920240" y="2651760"/>
            <a:ext cx="640080" cy="640080"/>
          </a:xfrm>
          <a:prstGeom prst="roundRect">
            <a:avLst>
              <a:gd name="adj" fmla="val 25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20240" y="2651760"/>
            <a:ext cx="640080" cy="640080"/>
          </a:xfrm>
          <a:prstGeom prst="rect">
            <a:avLst/>
          </a:prstGeom>
          <a:noFill/>
        </p:spPr>
        <p:txBody>
          <a:bodyPr wrap="square" anchor="ctr" lIns="36576" rIns="36576" tIns="18288" bIns="18288">
            <a:spAutoFit/>
          </a:bodyPr>
          <a:lstStyle/>
          <a:p>
            <a:pPr algn="ctr"/>
            <a:r>
              <a:rPr sz="1400" b="1" i="0">
                <a:solidFill>
                  <a:srgbClr val="FFFFFF"/>
                </a:solidFill>
                <a:latin typeface="Calibri"/>
              </a:rPr>
              <a:t>*</a:t>
            </a:r>
          </a:p>
        </p:txBody>
      </p:sp>
      <p:sp>
        <p:nvSpPr>
          <p:cNvPr id="7" name="TextBox 6"/>
          <p:cNvSpPr txBox="1"/>
          <p:nvPr/>
        </p:nvSpPr>
        <p:spPr>
          <a:xfrm>
            <a:off x="434340" y="3566160"/>
            <a:ext cx="3611880" cy="457200"/>
          </a:xfrm>
          <a:prstGeom prst="rect">
            <a:avLst/>
          </a:prstGeom>
          <a:noFill/>
        </p:spPr>
        <p:txBody>
          <a:bodyPr wrap="square" anchor="t" lIns="36576" rIns="36576" tIns="18288" bIns="18288">
            <a:spAutoFit/>
          </a:bodyPr>
          <a:lstStyle/>
          <a:p>
            <a:pPr algn="ctr"/>
            <a:r>
              <a:rPr sz="2000" b="1" i="0">
                <a:solidFill>
                  <a:srgbClr val="0F1C2E"/>
                </a:solidFill>
                <a:latin typeface="Calibri"/>
              </a:rPr>
              <a:t>Patients</a:t>
            </a:r>
          </a:p>
        </p:txBody>
      </p:sp>
      <p:sp>
        <p:nvSpPr>
          <p:cNvPr id="8" name="TextBox 7"/>
          <p:cNvSpPr txBox="1"/>
          <p:nvPr/>
        </p:nvSpPr>
        <p:spPr>
          <a:xfrm>
            <a:off x="708660" y="4160520"/>
            <a:ext cx="3063240" cy="1828800"/>
          </a:xfrm>
          <a:prstGeom prst="rect">
            <a:avLst/>
          </a:prstGeom>
          <a:noFill/>
        </p:spPr>
        <p:txBody>
          <a:bodyPr wrap="square" anchor="t" lIns="36576" rIns="36576" tIns="18288" bIns="18288">
            <a:spAutoFit/>
          </a:bodyPr>
          <a:lstStyle/>
          <a:p>
            <a:pPr algn="ctr"/>
            <a:r>
              <a:rPr sz="1200" b="0" i="0">
                <a:solidFill>
                  <a:srgbClr val="556575"/>
                </a:solidFill>
                <a:latin typeface="Calibri"/>
              </a:rPr>
              <a:t>Improve ADL and reduce fall risk by providing intuitive visual and auditory biofeedback, designed with low cognitive load.</a:t>
            </a:r>
          </a:p>
        </p:txBody>
      </p:sp>
      <p:sp>
        <p:nvSpPr>
          <p:cNvPr id="9" name="Rounded Rectangle 8"/>
          <p:cNvSpPr/>
          <p:nvPr/>
        </p:nvSpPr>
        <p:spPr>
          <a:xfrm>
            <a:off x="4274820" y="2194560"/>
            <a:ext cx="3611880" cy="402336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2651760"/>
            <a:ext cx="640080" cy="640080"/>
          </a:xfrm>
          <a:prstGeom prst="roundRect">
            <a:avLst>
              <a:gd name="adj" fmla="val 25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2651760"/>
            <a:ext cx="640080" cy="640080"/>
          </a:xfrm>
          <a:prstGeom prst="rect">
            <a:avLst/>
          </a:prstGeom>
          <a:noFill/>
        </p:spPr>
        <p:txBody>
          <a:bodyPr wrap="square" anchor="ctr" lIns="36576" rIns="36576" tIns="18288" bIns="18288">
            <a:spAutoFit/>
          </a:bodyPr>
          <a:lstStyle/>
          <a:p>
            <a:pPr algn="ctr"/>
            <a:r>
              <a:rPr sz="1400" b="1" i="0">
                <a:solidFill>
                  <a:srgbClr val="FFFFFF"/>
                </a:solidFill>
                <a:latin typeface="Calibri"/>
              </a:rPr>
              <a:t>*</a:t>
            </a:r>
          </a:p>
        </p:txBody>
      </p:sp>
      <p:sp>
        <p:nvSpPr>
          <p:cNvPr id="12" name="TextBox 11"/>
          <p:cNvSpPr txBox="1"/>
          <p:nvPr/>
        </p:nvSpPr>
        <p:spPr>
          <a:xfrm>
            <a:off x="4274820" y="3566160"/>
            <a:ext cx="3611880" cy="457200"/>
          </a:xfrm>
          <a:prstGeom prst="rect">
            <a:avLst/>
          </a:prstGeom>
          <a:noFill/>
        </p:spPr>
        <p:txBody>
          <a:bodyPr wrap="square" anchor="t" lIns="36576" rIns="36576" tIns="18288" bIns="18288">
            <a:spAutoFit/>
          </a:bodyPr>
          <a:lstStyle/>
          <a:p>
            <a:pPr algn="ctr"/>
            <a:r>
              <a:rPr sz="2000" b="1" i="0">
                <a:solidFill>
                  <a:srgbClr val="0F1C2E"/>
                </a:solidFill>
                <a:latin typeface="Calibri"/>
              </a:rPr>
              <a:t>Therapist</a:t>
            </a:r>
          </a:p>
        </p:txBody>
      </p:sp>
      <p:sp>
        <p:nvSpPr>
          <p:cNvPr id="13" name="TextBox 12"/>
          <p:cNvSpPr txBox="1"/>
          <p:nvPr/>
        </p:nvSpPr>
        <p:spPr>
          <a:xfrm>
            <a:off x="4549140" y="4160520"/>
            <a:ext cx="3063240" cy="1828800"/>
          </a:xfrm>
          <a:prstGeom prst="rect">
            <a:avLst/>
          </a:prstGeom>
          <a:noFill/>
        </p:spPr>
        <p:txBody>
          <a:bodyPr wrap="square" anchor="t" lIns="36576" rIns="36576" tIns="18288" bIns="18288">
            <a:spAutoFit/>
          </a:bodyPr>
          <a:lstStyle/>
          <a:p>
            <a:pPr algn="ctr"/>
            <a:r>
              <a:rPr sz="1200" b="0" i="0">
                <a:solidFill>
                  <a:srgbClr val="556575"/>
                </a:solidFill>
                <a:latin typeface="Calibri"/>
              </a:rPr>
              <a:t>Provide an advanced decision dashboard based on objective kinematic data (not qualitative estimates) to personalise treatment plans.</a:t>
            </a:r>
          </a:p>
        </p:txBody>
      </p:sp>
      <p:sp>
        <p:nvSpPr>
          <p:cNvPr id="14" name="Rounded Rectangle 13"/>
          <p:cNvSpPr/>
          <p:nvPr/>
        </p:nvSpPr>
        <p:spPr>
          <a:xfrm>
            <a:off x="8115300" y="2194560"/>
            <a:ext cx="3611880" cy="402336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0" y="2651760"/>
            <a:ext cx="640080" cy="640080"/>
          </a:xfrm>
          <a:prstGeom prst="roundRect">
            <a:avLst>
              <a:gd name="adj" fmla="val 25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2651760"/>
            <a:ext cx="640080" cy="640080"/>
          </a:xfrm>
          <a:prstGeom prst="rect">
            <a:avLst/>
          </a:prstGeom>
          <a:noFill/>
        </p:spPr>
        <p:txBody>
          <a:bodyPr wrap="square" anchor="ctr" lIns="36576" rIns="36576" tIns="18288" bIns="18288">
            <a:spAutoFit/>
          </a:bodyPr>
          <a:lstStyle/>
          <a:p>
            <a:pPr algn="ctr"/>
            <a:r>
              <a:rPr sz="1400" b="1" i="0">
                <a:solidFill>
                  <a:srgbClr val="FFFFFF"/>
                </a:solidFill>
                <a:latin typeface="Calibri"/>
              </a:rPr>
              <a:t>*</a:t>
            </a:r>
          </a:p>
        </p:txBody>
      </p:sp>
      <p:sp>
        <p:nvSpPr>
          <p:cNvPr id="17" name="TextBox 16"/>
          <p:cNvSpPr txBox="1"/>
          <p:nvPr/>
        </p:nvSpPr>
        <p:spPr>
          <a:xfrm>
            <a:off x="8115300" y="3566160"/>
            <a:ext cx="3611880" cy="457200"/>
          </a:xfrm>
          <a:prstGeom prst="rect">
            <a:avLst/>
          </a:prstGeom>
          <a:noFill/>
        </p:spPr>
        <p:txBody>
          <a:bodyPr wrap="square" anchor="t" lIns="36576" rIns="36576" tIns="18288" bIns="18288">
            <a:spAutoFit/>
          </a:bodyPr>
          <a:lstStyle/>
          <a:p>
            <a:pPr algn="ctr"/>
            <a:r>
              <a:rPr sz="2000" b="1" i="0">
                <a:solidFill>
                  <a:srgbClr val="0F1C2E"/>
                </a:solidFill>
                <a:latin typeface="Calibri"/>
              </a:rPr>
              <a:t>Business (EaaS)</a:t>
            </a:r>
          </a:p>
        </p:txBody>
      </p:sp>
      <p:sp>
        <p:nvSpPr>
          <p:cNvPr id="18" name="TextBox 17"/>
          <p:cNvSpPr txBox="1"/>
          <p:nvPr/>
        </p:nvSpPr>
        <p:spPr>
          <a:xfrm>
            <a:off x="8389620" y="4160520"/>
            <a:ext cx="3063240" cy="1828800"/>
          </a:xfrm>
          <a:prstGeom prst="rect">
            <a:avLst/>
          </a:prstGeom>
          <a:noFill/>
        </p:spPr>
        <p:txBody>
          <a:bodyPr wrap="square" anchor="t" lIns="36576" rIns="36576" tIns="18288" bIns="18288">
            <a:spAutoFit/>
          </a:bodyPr>
          <a:lstStyle/>
          <a:p>
            <a:pPr algn="ctr"/>
            <a:r>
              <a:rPr sz="1200" b="0" i="0">
                <a:solidFill>
                  <a:srgbClr val="556575"/>
                </a:solidFill>
                <a:latin typeface="Calibri"/>
              </a:rPr>
              <a:t>Validate the technology to launch the "Equipment as a Service" (EaaS) business model for clinics, nursing homes, and home tele-rehabilitation.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Work and Development Plan (GANTT)</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155680" cy="365760"/>
          </a:xfrm>
          <a:prstGeom prst="rect">
            <a:avLst/>
          </a:prstGeom>
          <a:noFill/>
        </p:spPr>
        <p:txBody>
          <a:bodyPr wrap="square" anchor="t" lIns="36576" rIns="36576" tIns="18288" bIns="18288">
            <a:spAutoFit/>
          </a:bodyPr>
          <a:lstStyle/>
          <a:p>
            <a:pPr algn="l"/>
            <a:r>
              <a:rPr sz="1300" b="0" i="1">
                <a:solidFill>
                  <a:srgbClr val="1F9C88"/>
                </a:solidFill>
                <a:latin typeface="Calibri"/>
              </a:rPr>
              <a:t>18-Month Roadmap: 18 June 2026 - 18 December 2027</a:t>
            </a:r>
          </a:p>
        </p:txBody>
      </p:sp>
      <p:sp>
        <p:nvSpPr>
          <p:cNvPr id="5" name="Rounded Rectangle 4"/>
          <p:cNvSpPr/>
          <p:nvPr/>
        </p:nvSpPr>
        <p:spPr>
          <a:xfrm>
            <a:off x="502920" y="1645920"/>
            <a:ext cx="11155680" cy="457200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88920" y="1783080"/>
            <a:ext cx="1371600" cy="274320"/>
          </a:xfrm>
          <a:prstGeom prst="rect">
            <a:avLst/>
          </a:prstGeom>
          <a:noFill/>
        </p:spPr>
        <p:txBody>
          <a:bodyPr wrap="square" anchor="t" lIns="36576" rIns="36576" tIns="18288" bIns="18288">
            <a:spAutoFit/>
          </a:bodyPr>
          <a:lstStyle/>
          <a:p>
            <a:pPr algn="l"/>
            <a:r>
              <a:rPr sz="1000" b="1" i="0">
                <a:solidFill>
                  <a:srgbClr val="0F1C2E"/>
                </a:solidFill>
                <a:latin typeface="Calibri"/>
              </a:rPr>
              <a:t>T1 ('26)</a:t>
            </a:r>
          </a:p>
        </p:txBody>
      </p:sp>
      <p:sp>
        <p:nvSpPr>
          <p:cNvPr id="7" name="TextBox 6"/>
          <p:cNvSpPr txBox="1"/>
          <p:nvPr/>
        </p:nvSpPr>
        <p:spPr>
          <a:xfrm>
            <a:off x="4160520" y="1783080"/>
            <a:ext cx="1371600" cy="274320"/>
          </a:xfrm>
          <a:prstGeom prst="rect">
            <a:avLst/>
          </a:prstGeom>
          <a:noFill/>
        </p:spPr>
        <p:txBody>
          <a:bodyPr wrap="square" anchor="t" lIns="36576" rIns="36576" tIns="18288" bIns="18288">
            <a:spAutoFit/>
          </a:bodyPr>
          <a:lstStyle/>
          <a:p>
            <a:pPr algn="l"/>
            <a:r>
              <a:rPr sz="1000" b="1" i="0">
                <a:solidFill>
                  <a:srgbClr val="0F1C2E"/>
                </a:solidFill>
                <a:latin typeface="Calibri"/>
              </a:rPr>
              <a:t>T2 ('26)</a:t>
            </a:r>
          </a:p>
        </p:txBody>
      </p:sp>
      <p:sp>
        <p:nvSpPr>
          <p:cNvPr id="8" name="TextBox 7"/>
          <p:cNvSpPr txBox="1"/>
          <p:nvPr/>
        </p:nvSpPr>
        <p:spPr>
          <a:xfrm>
            <a:off x="5532120" y="1783080"/>
            <a:ext cx="1371600" cy="274320"/>
          </a:xfrm>
          <a:prstGeom prst="rect">
            <a:avLst/>
          </a:prstGeom>
          <a:noFill/>
        </p:spPr>
        <p:txBody>
          <a:bodyPr wrap="square" anchor="t" lIns="36576" rIns="36576" tIns="18288" bIns="18288">
            <a:spAutoFit/>
          </a:bodyPr>
          <a:lstStyle/>
          <a:p>
            <a:pPr algn="l"/>
            <a:r>
              <a:rPr sz="1000" b="1" i="0">
                <a:solidFill>
                  <a:srgbClr val="0F1C2E"/>
                </a:solidFill>
                <a:latin typeface="Calibri"/>
              </a:rPr>
              <a:t>T3 ('26/'27)</a:t>
            </a:r>
          </a:p>
        </p:txBody>
      </p:sp>
      <p:sp>
        <p:nvSpPr>
          <p:cNvPr id="9" name="TextBox 8"/>
          <p:cNvSpPr txBox="1"/>
          <p:nvPr/>
        </p:nvSpPr>
        <p:spPr>
          <a:xfrm>
            <a:off x="7452360" y="1783080"/>
            <a:ext cx="1371600" cy="274320"/>
          </a:xfrm>
          <a:prstGeom prst="rect">
            <a:avLst/>
          </a:prstGeom>
          <a:noFill/>
        </p:spPr>
        <p:txBody>
          <a:bodyPr wrap="square" anchor="t" lIns="36576" rIns="36576" tIns="18288" bIns="18288">
            <a:spAutoFit/>
          </a:bodyPr>
          <a:lstStyle/>
          <a:p>
            <a:pPr algn="l"/>
            <a:r>
              <a:rPr sz="1000" b="1" i="0">
                <a:solidFill>
                  <a:srgbClr val="0F1C2E"/>
                </a:solidFill>
                <a:latin typeface="Calibri"/>
              </a:rPr>
              <a:t>T4 ('27)</a:t>
            </a:r>
          </a:p>
        </p:txBody>
      </p:sp>
      <p:sp>
        <p:nvSpPr>
          <p:cNvPr id="10" name="TextBox 9"/>
          <p:cNvSpPr txBox="1"/>
          <p:nvPr/>
        </p:nvSpPr>
        <p:spPr>
          <a:xfrm>
            <a:off x="8823960" y="1783080"/>
            <a:ext cx="1371600" cy="274320"/>
          </a:xfrm>
          <a:prstGeom prst="rect">
            <a:avLst/>
          </a:prstGeom>
          <a:noFill/>
        </p:spPr>
        <p:txBody>
          <a:bodyPr wrap="square" anchor="t" lIns="36576" rIns="36576" tIns="18288" bIns="18288">
            <a:spAutoFit/>
          </a:bodyPr>
          <a:lstStyle/>
          <a:p>
            <a:pPr algn="l"/>
            <a:r>
              <a:rPr sz="1000" b="1" i="0">
                <a:solidFill>
                  <a:srgbClr val="0F1C2E"/>
                </a:solidFill>
                <a:latin typeface="Calibri"/>
              </a:rPr>
              <a:t>T5 ('27)</a:t>
            </a:r>
          </a:p>
        </p:txBody>
      </p:sp>
      <p:sp>
        <p:nvSpPr>
          <p:cNvPr id="11" name="TextBox 10"/>
          <p:cNvSpPr txBox="1"/>
          <p:nvPr/>
        </p:nvSpPr>
        <p:spPr>
          <a:xfrm>
            <a:off x="10195560" y="1783080"/>
            <a:ext cx="1371600" cy="274320"/>
          </a:xfrm>
          <a:prstGeom prst="rect">
            <a:avLst/>
          </a:prstGeom>
          <a:noFill/>
        </p:spPr>
        <p:txBody>
          <a:bodyPr wrap="square" anchor="t" lIns="36576" rIns="36576" tIns="18288" bIns="18288">
            <a:spAutoFit/>
          </a:bodyPr>
          <a:lstStyle/>
          <a:p>
            <a:pPr algn="l"/>
            <a:r>
              <a:rPr sz="1000" b="1" i="0">
                <a:solidFill>
                  <a:srgbClr val="0F1C2E"/>
                </a:solidFill>
                <a:latin typeface="Calibri"/>
              </a:rPr>
              <a:t>T6 ('27)</a:t>
            </a:r>
          </a:p>
        </p:txBody>
      </p:sp>
      <p:sp>
        <p:nvSpPr>
          <p:cNvPr id="12" name="TextBox 11"/>
          <p:cNvSpPr txBox="1"/>
          <p:nvPr/>
        </p:nvSpPr>
        <p:spPr>
          <a:xfrm>
            <a:off x="233172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7</a:t>
            </a:r>
          </a:p>
        </p:txBody>
      </p:sp>
      <p:sp>
        <p:nvSpPr>
          <p:cNvPr id="13" name="Rectangle 12"/>
          <p:cNvSpPr/>
          <p:nvPr/>
        </p:nvSpPr>
        <p:spPr>
          <a:xfrm>
            <a:off x="259080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4988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8</a:t>
            </a:r>
          </a:p>
        </p:txBody>
      </p:sp>
      <p:sp>
        <p:nvSpPr>
          <p:cNvPr id="15" name="Rectangle 14"/>
          <p:cNvSpPr/>
          <p:nvPr/>
        </p:nvSpPr>
        <p:spPr>
          <a:xfrm>
            <a:off x="310896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804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9</a:t>
            </a:r>
          </a:p>
        </p:txBody>
      </p:sp>
      <p:sp>
        <p:nvSpPr>
          <p:cNvPr id="17" name="Rectangle 16"/>
          <p:cNvSpPr/>
          <p:nvPr/>
        </p:nvSpPr>
        <p:spPr>
          <a:xfrm>
            <a:off x="362712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8620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10</a:t>
            </a:r>
          </a:p>
        </p:txBody>
      </p:sp>
      <p:sp>
        <p:nvSpPr>
          <p:cNvPr id="19" name="Rectangle 18"/>
          <p:cNvSpPr/>
          <p:nvPr/>
        </p:nvSpPr>
        <p:spPr>
          <a:xfrm>
            <a:off x="414528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436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11</a:t>
            </a:r>
          </a:p>
        </p:txBody>
      </p:sp>
      <p:sp>
        <p:nvSpPr>
          <p:cNvPr id="21" name="Rectangle 20"/>
          <p:cNvSpPr/>
          <p:nvPr/>
        </p:nvSpPr>
        <p:spPr>
          <a:xfrm>
            <a:off x="466344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2252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12</a:t>
            </a:r>
          </a:p>
        </p:txBody>
      </p:sp>
      <p:sp>
        <p:nvSpPr>
          <p:cNvPr id="23" name="Rectangle 22"/>
          <p:cNvSpPr/>
          <p:nvPr/>
        </p:nvSpPr>
        <p:spPr>
          <a:xfrm>
            <a:off x="518160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a:t>
            </a:r>
          </a:p>
        </p:txBody>
      </p:sp>
      <p:sp>
        <p:nvSpPr>
          <p:cNvPr id="25" name="Rectangle 24"/>
          <p:cNvSpPr/>
          <p:nvPr/>
        </p:nvSpPr>
        <p:spPr>
          <a:xfrm>
            <a:off x="569976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5884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2</a:t>
            </a:r>
          </a:p>
        </p:txBody>
      </p:sp>
      <p:sp>
        <p:nvSpPr>
          <p:cNvPr id="27" name="Rectangle 26"/>
          <p:cNvSpPr/>
          <p:nvPr/>
        </p:nvSpPr>
        <p:spPr>
          <a:xfrm>
            <a:off x="621792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700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3</a:t>
            </a:r>
          </a:p>
        </p:txBody>
      </p:sp>
      <p:sp>
        <p:nvSpPr>
          <p:cNvPr id="29" name="Rectangle 28"/>
          <p:cNvSpPr/>
          <p:nvPr/>
        </p:nvSpPr>
        <p:spPr>
          <a:xfrm>
            <a:off x="673608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9516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4</a:t>
            </a:r>
          </a:p>
        </p:txBody>
      </p:sp>
      <p:sp>
        <p:nvSpPr>
          <p:cNvPr id="31" name="Rectangle 30"/>
          <p:cNvSpPr/>
          <p:nvPr/>
        </p:nvSpPr>
        <p:spPr>
          <a:xfrm>
            <a:off x="725424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1332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5</a:t>
            </a:r>
          </a:p>
        </p:txBody>
      </p:sp>
      <p:sp>
        <p:nvSpPr>
          <p:cNvPr id="33" name="Rectangle 32"/>
          <p:cNvSpPr/>
          <p:nvPr/>
        </p:nvSpPr>
        <p:spPr>
          <a:xfrm>
            <a:off x="777240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3148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6</a:t>
            </a:r>
          </a:p>
        </p:txBody>
      </p:sp>
      <p:sp>
        <p:nvSpPr>
          <p:cNvPr id="35" name="Rectangle 34"/>
          <p:cNvSpPr/>
          <p:nvPr/>
        </p:nvSpPr>
        <p:spPr>
          <a:xfrm>
            <a:off x="829056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964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7</a:t>
            </a:r>
          </a:p>
        </p:txBody>
      </p:sp>
      <p:sp>
        <p:nvSpPr>
          <p:cNvPr id="37" name="Rectangle 36"/>
          <p:cNvSpPr/>
          <p:nvPr/>
        </p:nvSpPr>
        <p:spPr>
          <a:xfrm>
            <a:off x="880872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6780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8</a:t>
            </a:r>
          </a:p>
        </p:txBody>
      </p:sp>
      <p:sp>
        <p:nvSpPr>
          <p:cNvPr id="39" name="Rectangle 38"/>
          <p:cNvSpPr/>
          <p:nvPr/>
        </p:nvSpPr>
        <p:spPr>
          <a:xfrm>
            <a:off x="932688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8596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9</a:t>
            </a:r>
          </a:p>
        </p:txBody>
      </p:sp>
      <p:sp>
        <p:nvSpPr>
          <p:cNvPr id="41" name="Rectangle 40"/>
          <p:cNvSpPr/>
          <p:nvPr/>
        </p:nvSpPr>
        <p:spPr>
          <a:xfrm>
            <a:off x="984504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0412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10</a:t>
            </a:r>
          </a:p>
        </p:txBody>
      </p:sp>
      <p:sp>
        <p:nvSpPr>
          <p:cNvPr id="43" name="Rectangle 42"/>
          <p:cNvSpPr/>
          <p:nvPr/>
        </p:nvSpPr>
        <p:spPr>
          <a:xfrm>
            <a:off x="1036320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2228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11</a:t>
            </a:r>
          </a:p>
        </p:txBody>
      </p:sp>
      <p:sp>
        <p:nvSpPr>
          <p:cNvPr id="45" name="Rectangle 44"/>
          <p:cNvSpPr/>
          <p:nvPr/>
        </p:nvSpPr>
        <p:spPr>
          <a:xfrm>
            <a:off x="1088136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140440" y="2103120"/>
            <a:ext cx="518160" cy="274320"/>
          </a:xfrm>
          <a:prstGeom prst="rect">
            <a:avLst/>
          </a:prstGeom>
          <a:noFill/>
        </p:spPr>
        <p:txBody>
          <a:bodyPr wrap="square" anchor="t" lIns="36576" rIns="36576" tIns="18288" bIns="18288">
            <a:spAutoFit/>
          </a:bodyPr>
          <a:lstStyle/>
          <a:p>
            <a:pPr algn="ctr"/>
            <a:r>
              <a:rPr sz="800" b="0" i="0">
                <a:solidFill>
                  <a:srgbClr val="556575"/>
                </a:solidFill>
                <a:latin typeface="Calibri"/>
              </a:rPr>
              <a:t>12</a:t>
            </a:r>
          </a:p>
        </p:txBody>
      </p:sp>
      <p:sp>
        <p:nvSpPr>
          <p:cNvPr id="47" name="Rectangle 46"/>
          <p:cNvSpPr/>
          <p:nvPr/>
        </p:nvSpPr>
        <p:spPr>
          <a:xfrm>
            <a:off x="11399520" y="2423160"/>
            <a:ext cx="8000" cy="36576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2423160"/>
            <a:ext cx="11155680" cy="150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2560320"/>
            <a:ext cx="1737360" cy="502920"/>
          </a:xfrm>
          <a:prstGeom prst="rect">
            <a:avLst/>
          </a:prstGeom>
          <a:noFill/>
        </p:spPr>
        <p:txBody>
          <a:bodyPr wrap="square" anchor="ctr" lIns="36576" rIns="36576" tIns="18288" bIns="18288">
            <a:spAutoFit/>
          </a:bodyPr>
          <a:lstStyle/>
          <a:p>
            <a:pPr algn="l"/>
            <a:r>
              <a:rPr sz="900" b="1" i="0">
                <a:solidFill>
                  <a:srgbClr val="0F1C2E"/>
                </a:solidFill>
                <a:latin typeface="Calibri"/>
              </a:rPr>
              <a:t>WP1: Project Mngt.</a:t>
            </a:r>
          </a:p>
        </p:txBody>
      </p:sp>
      <p:sp>
        <p:nvSpPr>
          <p:cNvPr id="50" name="Rounded Rectangle 49"/>
          <p:cNvSpPr/>
          <p:nvPr/>
        </p:nvSpPr>
        <p:spPr>
          <a:xfrm>
            <a:off x="2331720" y="2665476"/>
            <a:ext cx="9326880" cy="292608"/>
          </a:xfrm>
          <a:prstGeom prst="roundRect">
            <a:avLst>
              <a:gd name="adj" fmla="val 12000"/>
            </a:avLst>
          </a:prstGeom>
          <a:solidFill>
            <a:srgbClr val="47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377440" y="2665476"/>
            <a:ext cx="9235440" cy="292608"/>
          </a:xfrm>
          <a:prstGeom prst="rect">
            <a:avLst/>
          </a:prstGeom>
          <a:noFill/>
        </p:spPr>
        <p:txBody>
          <a:bodyPr wrap="square" anchor="ctr" lIns="36576" rIns="36576" tIns="18288" bIns="18288">
            <a:spAutoFit/>
          </a:bodyPr>
          <a:lstStyle/>
          <a:p>
            <a:pPr algn="ctr"/>
            <a:r>
              <a:rPr sz="800" b="1" i="0">
                <a:solidFill>
                  <a:srgbClr val="FFFFFF"/>
                </a:solidFill>
                <a:latin typeface="Calibri"/>
              </a:rPr>
              <a:t>M1-M18 (Governance &amp; Ethics)</a:t>
            </a:r>
          </a:p>
        </p:txBody>
      </p:sp>
      <p:sp>
        <p:nvSpPr>
          <p:cNvPr id="52" name="TextBox 51"/>
          <p:cNvSpPr txBox="1"/>
          <p:nvPr/>
        </p:nvSpPr>
        <p:spPr>
          <a:xfrm>
            <a:off x="594360" y="3063240"/>
            <a:ext cx="1737360" cy="502920"/>
          </a:xfrm>
          <a:prstGeom prst="rect">
            <a:avLst/>
          </a:prstGeom>
          <a:noFill/>
        </p:spPr>
        <p:txBody>
          <a:bodyPr wrap="square" anchor="ctr" lIns="36576" rIns="36576" tIns="18288" bIns="18288">
            <a:spAutoFit/>
          </a:bodyPr>
          <a:lstStyle/>
          <a:p>
            <a:pPr algn="l"/>
            <a:r>
              <a:rPr sz="900" b="1" i="0">
                <a:solidFill>
                  <a:srgbClr val="0F1C2E"/>
                </a:solidFill>
                <a:latin typeface="Calibri"/>
              </a:rPr>
              <a:t>WP2: Analysis &amp; Architecture.</a:t>
            </a:r>
          </a:p>
        </p:txBody>
      </p:sp>
      <p:sp>
        <p:nvSpPr>
          <p:cNvPr id="53" name="Rounded Rectangle 52"/>
          <p:cNvSpPr/>
          <p:nvPr/>
        </p:nvSpPr>
        <p:spPr>
          <a:xfrm>
            <a:off x="2849880" y="3168396"/>
            <a:ext cx="3108960" cy="292608"/>
          </a:xfrm>
          <a:prstGeom prst="roundRect">
            <a:avLst>
              <a:gd name="adj" fmla="val 12000"/>
            </a:avLst>
          </a:prstGeom>
          <a:solidFill>
            <a:srgbClr val="3A8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95600" y="3168396"/>
            <a:ext cx="3017520" cy="292608"/>
          </a:xfrm>
          <a:prstGeom prst="rect">
            <a:avLst/>
          </a:prstGeom>
          <a:noFill/>
        </p:spPr>
        <p:txBody>
          <a:bodyPr wrap="square" anchor="ctr" lIns="36576" rIns="36576" tIns="18288" bIns="18288">
            <a:spAutoFit/>
          </a:bodyPr>
          <a:lstStyle/>
          <a:p>
            <a:pPr algn="ctr"/>
            <a:r>
              <a:rPr sz="800" b="1" i="0">
                <a:solidFill>
                  <a:srgbClr val="FFFFFF"/>
                </a:solidFill>
                <a:latin typeface="Calibri"/>
              </a:rPr>
              <a:t>M2-M7 (Cloud &amp; UX/UI)</a:t>
            </a:r>
          </a:p>
        </p:txBody>
      </p:sp>
      <p:sp>
        <p:nvSpPr>
          <p:cNvPr id="55" name="TextBox 54"/>
          <p:cNvSpPr txBox="1"/>
          <p:nvPr/>
        </p:nvSpPr>
        <p:spPr>
          <a:xfrm>
            <a:off x="594360" y="3566160"/>
            <a:ext cx="1737360" cy="502920"/>
          </a:xfrm>
          <a:prstGeom prst="rect">
            <a:avLst/>
          </a:prstGeom>
          <a:noFill/>
        </p:spPr>
        <p:txBody>
          <a:bodyPr wrap="square" anchor="ctr" lIns="36576" rIns="36576" tIns="18288" bIns="18288">
            <a:spAutoFit/>
          </a:bodyPr>
          <a:lstStyle/>
          <a:p>
            <a:pPr algn="l"/>
            <a:r>
              <a:rPr sz="900" b="1" i="0">
                <a:solidFill>
                  <a:srgbClr val="0F1C2E"/>
                </a:solidFill>
                <a:latin typeface="Calibri"/>
              </a:rPr>
              <a:t>WP3: AI &amp; HW Research</a:t>
            </a:r>
          </a:p>
        </p:txBody>
      </p:sp>
      <p:sp>
        <p:nvSpPr>
          <p:cNvPr id="56" name="Rounded Rectangle 55"/>
          <p:cNvSpPr/>
          <p:nvPr/>
        </p:nvSpPr>
        <p:spPr>
          <a:xfrm>
            <a:off x="3886200" y="3671316"/>
            <a:ext cx="4145280" cy="292608"/>
          </a:xfrm>
          <a:prstGeom prst="roundRect">
            <a:avLst>
              <a:gd name="adj" fmla="val 12000"/>
            </a:avLst>
          </a:prstGeom>
          <a:solidFill>
            <a:srgbClr val="845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31920" y="3671316"/>
            <a:ext cx="4053840" cy="292608"/>
          </a:xfrm>
          <a:prstGeom prst="rect">
            <a:avLst/>
          </a:prstGeom>
          <a:noFill/>
        </p:spPr>
        <p:txBody>
          <a:bodyPr wrap="square" anchor="ctr" lIns="36576" rIns="36576" tIns="18288" bIns="18288">
            <a:spAutoFit/>
          </a:bodyPr>
          <a:lstStyle/>
          <a:p>
            <a:pPr algn="ctr"/>
            <a:r>
              <a:rPr sz="800" b="1" i="0">
                <a:solidFill>
                  <a:srgbClr val="FFFFFF"/>
                </a:solidFill>
                <a:latin typeface="Calibri"/>
              </a:rPr>
              <a:t>M4-M11 (Dataset &amp; Pose 3D)</a:t>
            </a:r>
          </a:p>
        </p:txBody>
      </p:sp>
      <p:sp>
        <p:nvSpPr>
          <p:cNvPr id="58" name="TextBox 57"/>
          <p:cNvSpPr txBox="1"/>
          <p:nvPr/>
        </p:nvSpPr>
        <p:spPr>
          <a:xfrm>
            <a:off x="594360" y="4069080"/>
            <a:ext cx="1737360" cy="502920"/>
          </a:xfrm>
          <a:prstGeom prst="rect">
            <a:avLst/>
          </a:prstGeom>
          <a:noFill/>
        </p:spPr>
        <p:txBody>
          <a:bodyPr wrap="square" anchor="ctr" lIns="36576" rIns="36576" tIns="18288" bIns="18288">
            <a:spAutoFit/>
          </a:bodyPr>
          <a:lstStyle/>
          <a:p>
            <a:pPr algn="l"/>
            <a:r>
              <a:rPr sz="900" b="1" i="0">
                <a:solidFill>
                  <a:srgbClr val="0F1C2E"/>
                </a:solidFill>
                <a:latin typeface="Calibri"/>
              </a:rPr>
              <a:t>Bridge (AI continuation)</a:t>
            </a:r>
          </a:p>
        </p:txBody>
      </p:sp>
      <p:sp>
        <p:nvSpPr>
          <p:cNvPr id="59" name="Rounded Rectangle 58"/>
          <p:cNvSpPr/>
          <p:nvPr/>
        </p:nvSpPr>
        <p:spPr>
          <a:xfrm>
            <a:off x="5958840" y="4238244"/>
            <a:ext cx="5699760" cy="164592"/>
          </a:xfrm>
          <a:prstGeom prst="roundRect">
            <a:avLst>
              <a:gd name="adj" fmla="val 12000"/>
            </a:avLst>
          </a:prstGeom>
          <a:solidFill>
            <a:srgbClr val="C26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004560" y="4238244"/>
            <a:ext cx="5608320" cy="164592"/>
          </a:xfrm>
          <a:prstGeom prst="rect">
            <a:avLst/>
          </a:prstGeom>
          <a:noFill/>
        </p:spPr>
        <p:txBody>
          <a:bodyPr wrap="square" anchor="ctr" lIns="36576" rIns="36576" tIns="18288" bIns="18288">
            <a:spAutoFit/>
          </a:bodyPr>
          <a:lstStyle/>
          <a:p>
            <a:pPr algn="ctr"/>
            <a:r>
              <a:rPr sz="800" b="1" i="0">
                <a:solidFill>
                  <a:srgbClr val="FFFFFF"/>
                </a:solidFill>
                <a:latin typeface="Calibri"/>
              </a:rPr>
              <a:t>M8-M18 (AI refinement during integration &amp; validation)</a:t>
            </a:r>
          </a:p>
        </p:txBody>
      </p:sp>
      <p:sp>
        <p:nvSpPr>
          <p:cNvPr id="61" name="TextBox 60"/>
          <p:cNvSpPr txBox="1"/>
          <p:nvPr/>
        </p:nvSpPr>
        <p:spPr>
          <a:xfrm>
            <a:off x="594360" y="4572000"/>
            <a:ext cx="1737360" cy="502920"/>
          </a:xfrm>
          <a:prstGeom prst="rect">
            <a:avLst/>
          </a:prstGeom>
          <a:noFill/>
        </p:spPr>
        <p:txBody>
          <a:bodyPr wrap="square" anchor="ctr" lIns="36576" rIns="36576" tIns="18288" bIns="18288">
            <a:spAutoFit/>
          </a:bodyPr>
          <a:lstStyle/>
          <a:p>
            <a:pPr algn="l"/>
            <a:r>
              <a:rPr sz="900" b="1" i="0">
                <a:solidFill>
                  <a:srgbClr val="0F1C2E"/>
                </a:solidFill>
                <a:latin typeface="Calibri"/>
              </a:rPr>
              <a:t>WP4: Platform Dev</a:t>
            </a:r>
          </a:p>
        </p:txBody>
      </p:sp>
      <p:sp>
        <p:nvSpPr>
          <p:cNvPr id="62" name="Rounded Rectangle 61"/>
          <p:cNvSpPr/>
          <p:nvPr/>
        </p:nvSpPr>
        <p:spPr>
          <a:xfrm>
            <a:off x="6477000" y="4677156"/>
            <a:ext cx="3108960" cy="292608"/>
          </a:xfrm>
          <a:prstGeom prst="roundRect">
            <a:avLst>
              <a:gd name="adj" fmla="val 12000"/>
            </a:avLst>
          </a:prstGeom>
          <a:solidFill>
            <a:srgbClr val="E69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22720" y="4677156"/>
            <a:ext cx="3017520" cy="292608"/>
          </a:xfrm>
          <a:prstGeom prst="rect">
            <a:avLst/>
          </a:prstGeom>
          <a:noFill/>
        </p:spPr>
        <p:txBody>
          <a:bodyPr wrap="square" anchor="ctr" lIns="36576" rIns="36576" tIns="18288" bIns="18288">
            <a:spAutoFit/>
          </a:bodyPr>
          <a:lstStyle/>
          <a:p>
            <a:pPr algn="ctr"/>
            <a:r>
              <a:rPr sz="800" b="1" i="0">
                <a:solidFill>
                  <a:srgbClr val="FFFFFF"/>
                </a:solidFill>
                <a:latin typeface="Calibri"/>
              </a:rPr>
              <a:t>M9-M14 (Edge &amp; Dashboard)</a:t>
            </a:r>
          </a:p>
        </p:txBody>
      </p:sp>
      <p:sp>
        <p:nvSpPr>
          <p:cNvPr id="64" name="TextBox 63"/>
          <p:cNvSpPr txBox="1"/>
          <p:nvPr/>
        </p:nvSpPr>
        <p:spPr>
          <a:xfrm>
            <a:off x="594360" y="5074920"/>
            <a:ext cx="1737360" cy="502920"/>
          </a:xfrm>
          <a:prstGeom prst="rect">
            <a:avLst/>
          </a:prstGeom>
          <a:noFill/>
        </p:spPr>
        <p:txBody>
          <a:bodyPr wrap="square" anchor="ctr" lIns="36576" rIns="36576" tIns="18288" bIns="18288">
            <a:spAutoFit/>
          </a:bodyPr>
          <a:lstStyle/>
          <a:p>
            <a:pPr algn="l"/>
            <a:r>
              <a:rPr sz="900" b="1" i="0">
                <a:solidFill>
                  <a:srgbClr val="0F1C2E"/>
                </a:solidFill>
                <a:latin typeface="Calibri"/>
              </a:rPr>
              <a:t>WP5: TRL6 Validation</a:t>
            </a:r>
          </a:p>
        </p:txBody>
      </p:sp>
      <p:sp>
        <p:nvSpPr>
          <p:cNvPr id="65" name="Rounded Rectangle 64"/>
          <p:cNvSpPr/>
          <p:nvPr/>
        </p:nvSpPr>
        <p:spPr>
          <a:xfrm>
            <a:off x="9067800" y="5180076"/>
            <a:ext cx="2590800" cy="292608"/>
          </a:xfrm>
          <a:prstGeom prst="roundRect">
            <a:avLst>
              <a:gd name="adj" fmla="val 12000"/>
            </a:avLst>
          </a:prstGeom>
          <a:solidFill>
            <a:srgbClr val="4AA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13520" y="5180076"/>
            <a:ext cx="2499360" cy="292608"/>
          </a:xfrm>
          <a:prstGeom prst="rect">
            <a:avLst/>
          </a:prstGeom>
          <a:noFill/>
        </p:spPr>
        <p:txBody>
          <a:bodyPr wrap="square" anchor="ctr" lIns="36576" rIns="36576" tIns="18288" bIns="18288">
            <a:spAutoFit/>
          </a:bodyPr>
          <a:lstStyle/>
          <a:p>
            <a:pPr algn="ctr"/>
            <a:r>
              <a:rPr sz="800" b="1" i="0">
                <a:solidFill>
                  <a:srgbClr val="FFFFFF"/>
                </a:solidFill>
                <a:latin typeface="Calibri"/>
              </a:rPr>
              <a:t>M14-M18 (Real Environment Test)</a:t>
            </a:r>
          </a:p>
        </p:txBody>
      </p:sp>
      <p:sp>
        <p:nvSpPr>
          <p:cNvPr id="67" name="Rounded Rectangle 66"/>
          <p:cNvSpPr/>
          <p:nvPr/>
        </p:nvSpPr>
        <p:spPr>
          <a:xfrm>
            <a:off x="2743200" y="239572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743200" y="239572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D1.1</a:t>
            </a:r>
          </a:p>
        </p:txBody>
      </p:sp>
      <p:sp>
        <p:nvSpPr>
          <p:cNvPr id="69" name="Rounded Rectangle 68"/>
          <p:cNvSpPr/>
          <p:nvPr/>
        </p:nvSpPr>
        <p:spPr>
          <a:xfrm>
            <a:off x="3261360" y="239572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61360" y="239572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D1.2</a:t>
            </a:r>
          </a:p>
        </p:txBody>
      </p:sp>
      <p:sp>
        <p:nvSpPr>
          <p:cNvPr id="71" name="Rounded Rectangle 70"/>
          <p:cNvSpPr/>
          <p:nvPr/>
        </p:nvSpPr>
        <p:spPr>
          <a:xfrm>
            <a:off x="4297680" y="289864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297680" y="289864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D2.1</a:t>
            </a:r>
          </a:p>
        </p:txBody>
      </p:sp>
      <p:sp>
        <p:nvSpPr>
          <p:cNvPr id="73" name="Rounded Rectangle 72"/>
          <p:cNvSpPr/>
          <p:nvPr/>
        </p:nvSpPr>
        <p:spPr>
          <a:xfrm>
            <a:off x="6888480" y="340156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888480" y="340156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D3.1</a:t>
            </a:r>
          </a:p>
        </p:txBody>
      </p:sp>
      <p:sp>
        <p:nvSpPr>
          <p:cNvPr id="75" name="Rounded Rectangle 74"/>
          <p:cNvSpPr/>
          <p:nvPr/>
        </p:nvSpPr>
        <p:spPr>
          <a:xfrm>
            <a:off x="8961120" y="440740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961120" y="440740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D4.1</a:t>
            </a:r>
          </a:p>
        </p:txBody>
      </p:sp>
      <p:sp>
        <p:nvSpPr>
          <p:cNvPr id="77" name="Rounded Rectangle 76"/>
          <p:cNvSpPr/>
          <p:nvPr/>
        </p:nvSpPr>
        <p:spPr>
          <a:xfrm>
            <a:off x="9479280" y="491032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79280" y="491032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M5.1</a:t>
            </a:r>
          </a:p>
        </p:txBody>
      </p:sp>
      <p:sp>
        <p:nvSpPr>
          <p:cNvPr id="79" name="Rounded Rectangle 78"/>
          <p:cNvSpPr/>
          <p:nvPr/>
        </p:nvSpPr>
        <p:spPr>
          <a:xfrm>
            <a:off x="9997440" y="491032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997440" y="491032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T5.4</a:t>
            </a:r>
          </a:p>
        </p:txBody>
      </p:sp>
      <p:sp>
        <p:nvSpPr>
          <p:cNvPr id="81" name="Rounded Rectangle 80"/>
          <p:cNvSpPr/>
          <p:nvPr/>
        </p:nvSpPr>
        <p:spPr>
          <a:xfrm>
            <a:off x="11033760" y="491032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033760" y="491032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D5.1</a:t>
            </a:r>
          </a:p>
        </p:txBody>
      </p:sp>
      <p:sp>
        <p:nvSpPr>
          <p:cNvPr id="83" name="Rounded Rectangle 82"/>
          <p:cNvSpPr/>
          <p:nvPr/>
        </p:nvSpPr>
        <p:spPr>
          <a:xfrm>
            <a:off x="11033760" y="2395728"/>
            <a:ext cx="731520" cy="228600"/>
          </a:xfrm>
          <a:prstGeom prst="roundRect">
            <a:avLst>
              <a:gd name="adj" fmla="val 12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033760" y="2395728"/>
            <a:ext cx="731520" cy="228600"/>
          </a:xfrm>
          <a:prstGeom prst="rect">
            <a:avLst/>
          </a:prstGeom>
          <a:noFill/>
        </p:spPr>
        <p:txBody>
          <a:bodyPr wrap="square" anchor="ctr" lIns="36576" rIns="36576" tIns="18288" bIns="18288">
            <a:spAutoFit/>
          </a:bodyPr>
          <a:lstStyle/>
          <a:p>
            <a:pPr algn="ctr"/>
            <a:r>
              <a:rPr sz="800" b="1" i="0">
                <a:solidFill>
                  <a:srgbClr val="FFFFFF"/>
                </a:solidFill>
                <a:latin typeface="Calibri"/>
              </a:rPr>
              <a:t>D1.3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Project Deliverables and Milestones List</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280160"/>
            <a:ext cx="1115568"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0"/>
            <a:ext cx="932688" cy="411480"/>
          </a:xfrm>
          <a:prstGeom prst="rect">
            <a:avLst/>
          </a:prstGeom>
          <a:noFill/>
        </p:spPr>
        <p:txBody>
          <a:bodyPr wrap="square" anchor="ctr" lIns="36576" rIns="36576" tIns="18288" bIns="18288">
            <a:spAutoFit/>
          </a:bodyPr>
          <a:lstStyle/>
          <a:p>
            <a:pPr algn="l"/>
            <a:r>
              <a:rPr sz="1100" b="1" i="0">
                <a:solidFill>
                  <a:srgbClr val="FFFFFF"/>
                </a:solidFill>
                <a:latin typeface="Calibri"/>
              </a:rPr>
              <a:t>Code</a:t>
            </a:r>
          </a:p>
        </p:txBody>
      </p:sp>
      <p:sp>
        <p:nvSpPr>
          <p:cNvPr id="6" name="Rectangle 5"/>
          <p:cNvSpPr/>
          <p:nvPr/>
        </p:nvSpPr>
        <p:spPr>
          <a:xfrm>
            <a:off x="1618488" y="1280160"/>
            <a:ext cx="3569817"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09928" y="1280160"/>
            <a:ext cx="3386937" cy="411480"/>
          </a:xfrm>
          <a:prstGeom prst="rect">
            <a:avLst/>
          </a:prstGeom>
          <a:noFill/>
        </p:spPr>
        <p:txBody>
          <a:bodyPr wrap="square" anchor="ctr" lIns="36576" rIns="36576" tIns="18288" bIns="18288">
            <a:spAutoFit/>
          </a:bodyPr>
          <a:lstStyle/>
          <a:p>
            <a:pPr algn="l"/>
            <a:r>
              <a:rPr sz="1100" b="1" i="0">
                <a:solidFill>
                  <a:srgbClr val="FFFFFF"/>
                </a:solidFill>
                <a:latin typeface="Calibri"/>
              </a:rPr>
              <a:t>Title</a:t>
            </a:r>
          </a:p>
        </p:txBody>
      </p:sp>
      <p:sp>
        <p:nvSpPr>
          <p:cNvPr id="8" name="Rectangle 7"/>
          <p:cNvSpPr/>
          <p:nvPr/>
        </p:nvSpPr>
        <p:spPr>
          <a:xfrm>
            <a:off x="5188305" y="1280160"/>
            <a:ext cx="6470294"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79745" y="1280160"/>
            <a:ext cx="6287414" cy="411480"/>
          </a:xfrm>
          <a:prstGeom prst="rect">
            <a:avLst/>
          </a:prstGeom>
          <a:noFill/>
        </p:spPr>
        <p:txBody>
          <a:bodyPr wrap="square" anchor="ctr" lIns="36576" rIns="36576" tIns="18288" bIns="18288">
            <a:spAutoFit/>
          </a:bodyPr>
          <a:lstStyle/>
          <a:p>
            <a:pPr algn="l"/>
            <a:r>
              <a:rPr sz="1100" b="1" i="0">
                <a:solidFill>
                  <a:srgbClr val="FFFFFF"/>
                </a:solidFill>
                <a:latin typeface="Calibri"/>
              </a:rPr>
              <a:t>Operational Description</a:t>
            </a:r>
          </a:p>
        </p:txBody>
      </p:sp>
      <p:sp>
        <p:nvSpPr>
          <p:cNvPr id="10" name="Rectangle 9"/>
          <p:cNvSpPr/>
          <p:nvPr/>
        </p:nvSpPr>
        <p:spPr>
          <a:xfrm>
            <a:off x="502920" y="1691640"/>
            <a:ext cx="111556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91640"/>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Clinical Requirements and Biomechanical KPIs</a:t>
            </a:r>
          </a:p>
        </p:txBody>
      </p:sp>
      <p:sp>
        <p:nvSpPr>
          <p:cNvPr id="12" name="Rectangle 11"/>
          <p:cNvSpPr/>
          <p:nvPr/>
        </p:nvSpPr>
        <p:spPr>
          <a:xfrm>
            <a:off x="1618488" y="1691640"/>
            <a:ext cx="356981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09928" y="1691640"/>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Defines the scientific Ground Truth and the KPIs (angles, velocities) needed for AI training.</a:t>
            </a:r>
          </a:p>
        </p:txBody>
      </p:sp>
      <p:sp>
        <p:nvSpPr>
          <p:cNvPr id="14" name="Rectangle 13"/>
          <p:cNvSpPr/>
          <p:nvPr/>
        </p:nvSpPr>
        <p:spPr>
          <a:xfrm>
            <a:off x="502920" y="2075688"/>
            <a:ext cx="111556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075688"/>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Submission to the Ethics Committee</a:t>
            </a:r>
          </a:p>
        </p:txBody>
      </p:sp>
      <p:sp>
        <p:nvSpPr>
          <p:cNvPr id="16" name="Rectangle 15"/>
          <p:cNvSpPr/>
          <p:nvPr/>
        </p:nvSpPr>
        <p:spPr>
          <a:xfrm>
            <a:off x="1618488" y="2075688"/>
            <a:ext cx="356981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09928" y="2075688"/>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Drafting of the clinical protocol, inclusion criteria, and formal submission for CER approval.</a:t>
            </a:r>
          </a:p>
        </p:txBody>
      </p:sp>
      <p:sp>
        <p:nvSpPr>
          <p:cNvPr id="18" name="Rectangle 17"/>
          <p:cNvSpPr/>
          <p:nvPr/>
        </p:nvSpPr>
        <p:spPr>
          <a:xfrm>
            <a:off x="502920" y="2459736"/>
            <a:ext cx="111556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459736"/>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Final Report and Dissemination</a:t>
            </a:r>
          </a:p>
        </p:txBody>
      </p:sp>
      <p:sp>
        <p:nvSpPr>
          <p:cNvPr id="20" name="Rectangle 19"/>
          <p:cNvSpPr/>
          <p:nvPr/>
        </p:nvSpPr>
        <p:spPr>
          <a:xfrm>
            <a:off x="1618488" y="2459736"/>
            <a:ext cx="356981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09928" y="2459736"/>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Project management report and reporting of scientific dissemination activities carried out.</a:t>
            </a:r>
          </a:p>
        </p:txBody>
      </p:sp>
      <p:sp>
        <p:nvSpPr>
          <p:cNvPr id="22" name="Rectangle 21"/>
          <p:cNvSpPr/>
          <p:nvPr/>
        </p:nvSpPr>
        <p:spPr>
          <a:xfrm>
            <a:off x="502920" y="2843784"/>
            <a:ext cx="111556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843784"/>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UI/UX Design (Mockup)</a:t>
            </a:r>
          </a:p>
        </p:txBody>
      </p:sp>
      <p:sp>
        <p:nvSpPr>
          <p:cNvPr id="24" name="Rectangle 23"/>
          <p:cNvSpPr/>
          <p:nvPr/>
        </p:nvSpPr>
        <p:spPr>
          <a:xfrm>
            <a:off x="1618488" y="2843784"/>
            <a:ext cx="356981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09928" y="2843784"/>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Creation and validation of visual prototypes for the patient (Biofeedback) and therapist (Dashboard) interfaces.</a:t>
            </a:r>
          </a:p>
        </p:txBody>
      </p:sp>
      <p:sp>
        <p:nvSpPr>
          <p:cNvPr id="26" name="Rectangle 25"/>
          <p:cNvSpPr/>
          <p:nvPr/>
        </p:nvSpPr>
        <p:spPr>
          <a:xfrm>
            <a:off x="502920" y="3227832"/>
            <a:ext cx="111556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3227832"/>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STS Dataset Acquisition and Annotation</a:t>
            </a:r>
          </a:p>
        </p:txBody>
      </p:sp>
      <p:sp>
        <p:nvSpPr>
          <p:cNvPr id="28" name="Rectangle 27"/>
          <p:cNvSpPr/>
          <p:nvPr/>
        </p:nvSpPr>
        <p:spPr>
          <a:xfrm>
            <a:off x="1618488" y="3227832"/>
            <a:ext cx="356981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09928" y="3227832"/>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Acquisition of STS recordings at the clinical site and DINOGMI-led double-blind annotation, building the AI training corpus.</a:t>
            </a:r>
          </a:p>
        </p:txBody>
      </p:sp>
      <p:sp>
        <p:nvSpPr>
          <p:cNvPr id="30" name="Rectangle 29"/>
          <p:cNvSpPr/>
          <p:nvPr/>
        </p:nvSpPr>
        <p:spPr>
          <a:xfrm>
            <a:off x="502920" y="3611880"/>
            <a:ext cx="111556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3611880"/>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AI Models and STS Datasets</a:t>
            </a:r>
          </a:p>
        </p:txBody>
      </p:sp>
      <p:sp>
        <p:nvSpPr>
          <p:cNvPr id="32" name="Rectangle 31"/>
          <p:cNvSpPr/>
          <p:nvPr/>
        </p:nvSpPr>
        <p:spPr>
          <a:xfrm>
            <a:off x="1618488" y="3611880"/>
            <a:ext cx="356981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09928" y="3611880"/>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Clinical data acquisition and training of algorithms for real-time 3D estimation and forecasting.</a:t>
            </a:r>
          </a:p>
        </p:txBody>
      </p:sp>
      <p:sp>
        <p:nvSpPr>
          <p:cNvPr id="34" name="Rectangle 33"/>
          <p:cNvSpPr/>
          <p:nvPr/>
        </p:nvSpPr>
        <p:spPr>
          <a:xfrm>
            <a:off x="502920" y="3995928"/>
            <a:ext cx="111556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995928"/>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TRL6 Platform Prototype</a:t>
            </a:r>
          </a:p>
        </p:txBody>
      </p:sp>
      <p:sp>
        <p:nvSpPr>
          <p:cNvPr id="36" name="Rectangle 35"/>
          <p:cNvSpPr/>
          <p:nvPr/>
        </p:nvSpPr>
        <p:spPr>
          <a:xfrm>
            <a:off x="1618488" y="3995928"/>
            <a:ext cx="356981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09928" y="3995928"/>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Release of the Coach hardware device and cloud infrastructure, ready for the real world.</a:t>
            </a:r>
          </a:p>
        </p:txBody>
      </p:sp>
      <p:sp>
        <p:nvSpPr>
          <p:cNvPr id="38" name="Rectangle 37"/>
          <p:cNvSpPr/>
          <p:nvPr/>
        </p:nvSpPr>
        <p:spPr>
          <a:xfrm>
            <a:off x="502920" y="4379976"/>
            <a:ext cx="111556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4379976"/>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Cloud Platform Release</a:t>
            </a:r>
          </a:p>
        </p:txBody>
      </p:sp>
      <p:sp>
        <p:nvSpPr>
          <p:cNvPr id="40" name="Rectangle 39"/>
          <p:cNvSpPr/>
          <p:nvPr/>
        </p:nvSpPr>
        <p:spPr>
          <a:xfrm>
            <a:off x="1618488" y="4379976"/>
            <a:ext cx="356981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09928" y="4379976"/>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Cloud back-end, ingestion API, and Clinical Dashboard delivered as a separate release distinct from the Coach edge hardware.</a:t>
            </a:r>
          </a:p>
        </p:txBody>
      </p:sp>
      <p:sp>
        <p:nvSpPr>
          <p:cNvPr id="42" name="Rectangle 41"/>
          <p:cNvSpPr/>
          <p:nvPr/>
        </p:nvSpPr>
        <p:spPr>
          <a:xfrm>
            <a:off x="502920" y="4764024"/>
            <a:ext cx="111556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764024"/>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Start of Trial (TRL6)</a:t>
            </a:r>
          </a:p>
        </p:txBody>
      </p:sp>
      <p:sp>
        <p:nvSpPr>
          <p:cNvPr id="44" name="Rectangle 43"/>
          <p:cNvSpPr/>
          <p:nvPr/>
        </p:nvSpPr>
        <p:spPr>
          <a:xfrm>
            <a:off x="1618488" y="4764024"/>
            <a:ext cx="356981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709928" y="4764024"/>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Clinical setup, patient recruitment, and official start of testing inside the gym.</a:t>
            </a:r>
          </a:p>
        </p:txBody>
      </p:sp>
      <p:sp>
        <p:nvSpPr>
          <p:cNvPr id="46" name="Rectangle 45"/>
          <p:cNvSpPr/>
          <p:nvPr/>
        </p:nvSpPr>
        <p:spPr>
          <a:xfrm>
            <a:off x="502920" y="5148072"/>
            <a:ext cx="111556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5148072"/>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AI vs. Gold Standard Comparison</a:t>
            </a:r>
          </a:p>
        </p:txBody>
      </p:sp>
      <p:sp>
        <p:nvSpPr>
          <p:cNvPr id="48" name="Rectangle 47"/>
          <p:cNvSpPr/>
          <p:nvPr/>
        </p:nvSpPr>
        <p:spPr>
          <a:xfrm>
            <a:off x="1618488" y="5148072"/>
            <a:ext cx="356981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709928" y="5148072"/>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Statistical analysis of AI metrics compared with laboratory optoelectronic systems (REHELAB).</a:t>
            </a:r>
          </a:p>
        </p:txBody>
      </p:sp>
      <p:sp>
        <p:nvSpPr>
          <p:cNvPr id="50" name="Rectangle 49"/>
          <p:cNvSpPr/>
          <p:nvPr/>
        </p:nvSpPr>
        <p:spPr>
          <a:xfrm>
            <a:off x="502920" y="5532120"/>
            <a:ext cx="111556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5532120"/>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TRL6 Validation Report</a:t>
            </a:r>
          </a:p>
        </p:txBody>
      </p:sp>
      <p:sp>
        <p:nvSpPr>
          <p:cNvPr id="52" name="Rectangle 51"/>
          <p:cNvSpPr/>
          <p:nvPr/>
        </p:nvSpPr>
        <p:spPr>
          <a:xfrm>
            <a:off x="1618488" y="5532120"/>
            <a:ext cx="356981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709928" y="5532120"/>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Final document on scientific validation, usability, patient adherence, and clinical impact.</a:t>
            </a:r>
          </a:p>
        </p:txBody>
      </p:sp>
      <p:sp>
        <p:nvSpPr>
          <p:cNvPr id="54" name="Rectangle 53"/>
          <p:cNvSpPr/>
          <p:nvPr/>
        </p:nvSpPr>
        <p:spPr>
          <a:xfrm>
            <a:off x="502920" y="5916168"/>
            <a:ext cx="111556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5916168"/>
            <a:ext cx="932688" cy="384048"/>
          </a:xfrm>
          <a:prstGeom prst="rect">
            <a:avLst/>
          </a:prstGeom>
          <a:noFill/>
        </p:spPr>
        <p:txBody>
          <a:bodyPr wrap="square" anchor="ctr" lIns="36576" rIns="36576" tIns="18288" bIns="18288">
            <a:spAutoFit/>
          </a:bodyPr>
          <a:lstStyle/>
          <a:p>
            <a:pPr algn="l"/>
            <a:r>
              <a:rPr sz="900" b="0" i="0">
                <a:solidFill>
                  <a:srgbClr val="0F1C2E"/>
                </a:solidFill>
                <a:latin typeface="Calibri"/>
              </a:rPr>
              <a:t>Patient and Therapist Feedback Report</a:t>
            </a:r>
          </a:p>
        </p:txBody>
      </p:sp>
      <p:sp>
        <p:nvSpPr>
          <p:cNvPr id="56" name="Rectangle 55"/>
          <p:cNvSpPr/>
          <p:nvPr/>
        </p:nvSpPr>
        <p:spPr>
          <a:xfrm>
            <a:off x="1618488" y="5916168"/>
            <a:ext cx="356981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709928" y="5916168"/>
            <a:ext cx="3386937" cy="384048"/>
          </a:xfrm>
          <a:prstGeom prst="rect">
            <a:avLst/>
          </a:prstGeom>
          <a:noFill/>
        </p:spPr>
        <p:txBody>
          <a:bodyPr wrap="square" anchor="ctr" lIns="36576" rIns="36576" tIns="18288" bIns="18288">
            <a:spAutoFit/>
          </a:bodyPr>
          <a:lstStyle/>
          <a:p>
            <a:pPr algn="l"/>
            <a:r>
              <a:rPr sz="900" b="0" i="0">
                <a:solidFill>
                  <a:srgbClr val="0F1C2E"/>
                </a:solidFill>
                <a:latin typeface="Calibri"/>
              </a:rPr>
              <a:t>Intermediate usability and adherence report at the mid-point of WP5, feeding D5.1 with early signals.</a:t>
            </a:r>
          </a:p>
        </p:txBody>
      </p:sp>
      <p:sp>
        <p:nvSpPr>
          <p:cNvPr id="58" name="Rounded Rectangle 57"/>
          <p:cNvSpPr/>
          <p:nvPr/>
        </p:nvSpPr>
        <p:spPr>
          <a:xfrm>
            <a:off x="594360" y="1737360"/>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1737360"/>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D1.1</a:t>
            </a:r>
          </a:p>
        </p:txBody>
      </p:sp>
      <p:sp>
        <p:nvSpPr>
          <p:cNvPr id="60" name="Rounded Rectangle 59"/>
          <p:cNvSpPr/>
          <p:nvPr/>
        </p:nvSpPr>
        <p:spPr>
          <a:xfrm>
            <a:off x="594360" y="2121408"/>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2121408"/>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D1.2</a:t>
            </a:r>
          </a:p>
        </p:txBody>
      </p:sp>
      <p:sp>
        <p:nvSpPr>
          <p:cNvPr id="62" name="Rounded Rectangle 61"/>
          <p:cNvSpPr/>
          <p:nvPr/>
        </p:nvSpPr>
        <p:spPr>
          <a:xfrm>
            <a:off x="594360" y="2505456"/>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2505456"/>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D1.3</a:t>
            </a:r>
          </a:p>
        </p:txBody>
      </p:sp>
      <p:sp>
        <p:nvSpPr>
          <p:cNvPr id="64" name="Rounded Rectangle 63"/>
          <p:cNvSpPr/>
          <p:nvPr/>
        </p:nvSpPr>
        <p:spPr>
          <a:xfrm>
            <a:off x="594360" y="2889504"/>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2889504"/>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D2.1</a:t>
            </a:r>
          </a:p>
        </p:txBody>
      </p:sp>
      <p:sp>
        <p:nvSpPr>
          <p:cNvPr id="66" name="Rounded Rectangle 65"/>
          <p:cNvSpPr/>
          <p:nvPr/>
        </p:nvSpPr>
        <p:spPr>
          <a:xfrm>
            <a:off x="594360" y="3273552"/>
            <a:ext cx="777240" cy="292608"/>
          </a:xfrm>
          <a:prstGeom prst="roundRect">
            <a:avLst>
              <a:gd name="adj" fmla="val 30000"/>
            </a:avLst>
          </a:prstGeom>
          <a:solidFill>
            <a:srgbClr val="47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 y="3273552"/>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T3.2</a:t>
            </a:r>
          </a:p>
        </p:txBody>
      </p:sp>
      <p:sp>
        <p:nvSpPr>
          <p:cNvPr id="68" name="Rounded Rectangle 67"/>
          <p:cNvSpPr/>
          <p:nvPr/>
        </p:nvSpPr>
        <p:spPr>
          <a:xfrm>
            <a:off x="594360" y="3657600"/>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4360" y="3657600"/>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D3.1</a:t>
            </a:r>
          </a:p>
        </p:txBody>
      </p:sp>
      <p:sp>
        <p:nvSpPr>
          <p:cNvPr id="70" name="Rounded Rectangle 69"/>
          <p:cNvSpPr/>
          <p:nvPr/>
        </p:nvSpPr>
        <p:spPr>
          <a:xfrm>
            <a:off x="594360" y="4041648"/>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94360" y="4041648"/>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D4.1</a:t>
            </a:r>
          </a:p>
        </p:txBody>
      </p:sp>
      <p:sp>
        <p:nvSpPr>
          <p:cNvPr id="72" name="Rounded Rectangle 71"/>
          <p:cNvSpPr/>
          <p:nvPr/>
        </p:nvSpPr>
        <p:spPr>
          <a:xfrm>
            <a:off x="594360" y="4425696"/>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360" y="4425696"/>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D4.2</a:t>
            </a:r>
          </a:p>
        </p:txBody>
      </p:sp>
      <p:sp>
        <p:nvSpPr>
          <p:cNvPr id="74" name="Rounded Rectangle 73"/>
          <p:cNvSpPr/>
          <p:nvPr/>
        </p:nvSpPr>
        <p:spPr>
          <a:xfrm>
            <a:off x="594360" y="4809744"/>
            <a:ext cx="77724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4360" y="4809744"/>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M5.1</a:t>
            </a:r>
          </a:p>
        </p:txBody>
      </p:sp>
      <p:sp>
        <p:nvSpPr>
          <p:cNvPr id="76" name="Rounded Rectangle 75"/>
          <p:cNvSpPr/>
          <p:nvPr/>
        </p:nvSpPr>
        <p:spPr>
          <a:xfrm>
            <a:off x="594360" y="5193792"/>
            <a:ext cx="777240" cy="292608"/>
          </a:xfrm>
          <a:prstGeom prst="roundRect">
            <a:avLst>
              <a:gd name="adj" fmla="val 30000"/>
            </a:avLst>
          </a:prstGeom>
          <a:solidFill>
            <a:srgbClr val="47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4360" y="5193792"/>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T5.4</a:t>
            </a:r>
          </a:p>
        </p:txBody>
      </p:sp>
      <p:sp>
        <p:nvSpPr>
          <p:cNvPr id="78" name="Rounded Rectangle 77"/>
          <p:cNvSpPr/>
          <p:nvPr/>
        </p:nvSpPr>
        <p:spPr>
          <a:xfrm>
            <a:off x="594360" y="5577840"/>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4360" y="5577840"/>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D5.1</a:t>
            </a:r>
          </a:p>
        </p:txBody>
      </p:sp>
      <p:sp>
        <p:nvSpPr>
          <p:cNvPr id="80" name="Rounded Rectangle 79"/>
          <p:cNvSpPr/>
          <p:nvPr/>
        </p:nvSpPr>
        <p:spPr>
          <a:xfrm>
            <a:off x="594360" y="5961888"/>
            <a:ext cx="77724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94360" y="5961888"/>
            <a:ext cx="77724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D5.2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Focus Partner: University of Genoa (DINOGMI)</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280160"/>
            <a:ext cx="4114800" cy="5120640"/>
          </a:xfrm>
          <a:prstGeom prst="roundRect">
            <a:avLst>
              <a:gd name="adj" fmla="val 6000"/>
            </a:avLst>
          </a:prstGeom>
          <a:solidFill>
            <a:srgbClr val="FFFFFF"/>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08760"/>
            <a:ext cx="3566160" cy="365760"/>
          </a:xfrm>
          <a:prstGeom prst="rect">
            <a:avLst/>
          </a:prstGeom>
          <a:noFill/>
        </p:spPr>
        <p:txBody>
          <a:bodyPr wrap="square" anchor="t" lIns="36576" rIns="36576" tIns="18288" bIns="18288">
            <a:spAutoFit/>
          </a:bodyPr>
          <a:lstStyle/>
          <a:p>
            <a:pPr algn="l"/>
            <a:r>
              <a:rPr sz="1400" b="1" i="0">
                <a:solidFill>
                  <a:srgbClr val="0F1C2E"/>
                </a:solidFill>
                <a:latin typeface="Calibri"/>
              </a:rPr>
              <a:t>Role &amp; Activities</a:t>
            </a:r>
          </a:p>
        </p:txBody>
      </p:sp>
      <p:sp>
        <p:nvSpPr>
          <p:cNvPr id="6" name="Rectangle 5"/>
          <p:cNvSpPr/>
          <p:nvPr/>
        </p:nvSpPr>
        <p:spPr>
          <a:xfrm>
            <a:off x="777240" y="1892808"/>
            <a:ext cx="3566160" cy="100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3566160" cy="274320"/>
          </a:xfrm>
          <a:prstGeom prst="rect">
            <a:avLst/>
          </a:prstGeom>
          <a:noFill/>
        </p:spPr>
        <p:txBody>
          <a:bodyPr wrap="square" anchor="t" lIns="36576" rIns="36576" tIns="18288" bIns="18288">
            <a:spAutoFit/>
          </a:bodyPr>
          <a:lstStyle/>
          <a:p>
            <a:pPr algn="l"/>
            <a:r>
              <a:rPr sz="1100" b="1" i="0">
                <a:solidFill>
                  <a:srgbClr val="0F1C2E"/>
                </a:solidFill>
                <a:latin typeface="Calibri"/>
              </a:rPr>
              <a:t>Scientific Partner:</a:t>
            </a:r>
          </a:p>
        </p:txBody>
      </p:sp>
      <p:sp>
        <p:nvSpPr>
          <p:cNvPr id="8" name="TextBox 7"/>
          <p:cNvSpPr txBox="1"/>
          <p:nvPr/>
        </p:nvSpPr>
        <p:spPr>
          <a:xfrm>
            <a:off x="777240" y="2331720"/>
            <a:ext cx="3566160" cy="731520"/>
          </a:xfrm>
          <a:prstGeom prst="rect">
            <a:avLst/>
          </a:prstGeom>
          <a:noFill/>
        </p:spPr>
        <p:txBody>
          <a:bodyPr wrap="square" anchor="t" lIns="36576" rIns="36576" tIns="18288" bIns="18288">
            <a:spAutoFit/>
          </a:bodyPr>
          <a:lstStyle/>
          <a:p>
            <a:pPr algn="l"/>
            <a:r>
              <a:rPr sz="1100" b="0" i="0">
                <a:solidFill>
                  <a:srgbClr val="556575"/>
                </a:solidFill>
                <a:latin typeface="Calibri"/>
              </a:rPr>
              <a:t>Member of the Biomechanical Validation Committee and definition of the Gold Standard at REHELAB.</a:t>
            </a:r>
          </a:p>
        </p:txBody>
      </p:sp>
      <p:sp>
        <p:nvSpPr>
          <p:cNvPr id="9" name="TextBox 8"/>
          <p:cNvSpPr txBox="1"/>
          <p:nvPr/>
        </p:nvSpPr>
        <p:spPr>
          <a:xfrm>
            <a:off x="777240" y="3200400"/>
            <a:ext cx="3566160" cy="274320"/>
          </a:xfrm>
          <a:prstGeom prst="rect">
            <a:avLst/>
          </a:prstGeom>
          <a:noFill/>
        </p:spPr>
        <p:txBody>
          <a:bodyPr wrap="square" anchor="t" lIns="36576" rIns="36576" tIns="18288" bIns="18288">
            <a:spAutoFit/>
          </a:bodyPr>
          <a:lstStyle/>
          <a:p>
            <a:pPr algn="l"/>
            <a:r>
              <a:rPr sz="1100" b="1" i="0">
                <a:solidFill>
                  <a:srgbClr val="0F1C2E"/>
                </a:solidFill>
                <a:latin typeface="Calibri"/>
              </a:rPr>
              <a:t>Initial Phase:</a:t>
            </a:r>
          </a:p>
        </p:txBody>
      </p:sp>
      <p:sp>
        <p:nvSpPr>
          <p:cNvPr id="10" name="TextBox 9"/>
          <p:cNvSpPr txBox="1"/>
          <p:nvPr/>
        </p:nvSpPr>
        <p:spPr>
          <a:xfrm>
            <a:off x="777240" y="3474720"/>
            <a:ext cx="3566160" cy="822960"/>
          </a:xfrm>
          <a:prstGeom prst="rect">
            <a:avLst/>
          </a:prstGeom>
          <a:noFill/>
        </p:spPr>
        <p:txBody>
          <a:bodyPr wrap="square" anchor="t" lIns="36576" rIns="36576" tIns="18288" bIns="18288">
            <a:spAutoFit/>
          </a:bodyPr>
          <a:lstStyle/>
          <a:p>
            <a:pPr algn="l"/>
            <a:r>
              <a:rPr sz="1100" b="0" i="0">
                <a:solidFill>
                  <a:srgbClr val="556575"/>
                </a:solidFill>
                <a:latin typeface="Calibri"/>
              </a:rPr>
              <a:t>Define the scientific Ground Truth (biomechanical KPIs) by mid-August 2026, and only then start drafting the Ethics Committee protocol, since the KPIs are what the trial measures.</a:t>
            </a:r>
          </a:p>
        </p:txBody>
      </p:sp>
      <p:sp>
        <p:nvSpPr>
          <p:cNvPr id="11" name="Rectangle 10"/>
          <p:cNvSpPr/>
          <p:nvPr/>
        </p:nvSpPr>
        <p:spPr>
          <a:xfrm>
            <a:off x="777240" y="4526280"/>
            <a:ext cx="45720" cy="1874519"/>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4526280"/>
            <a:ext cx="3474720" cy="1874519"/>
          </a:xfrm>
          <a:prstGeom prst="roundRect">
            <a:avLst>
              <a:gd name="adj" fmla="val 6000"/>
            </a:avLst>
          </a:prstGeom>
          <a:solidFill>
            <a:srgbClr val="FDECEC"/>
          </a:solidFill>
          <a:ln w="6350">
            <a:solidFill>
              <a:srgbClr val="FDE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617720"/>
            <a:ext cx="3200400" cy="274320"/>
          </a:xfrm>
          <a:prstGeom prst="rect">
            <a:avLst/>
          </a:prstGeom>
          <a:noFill/>
        </p:spPr>
        <p:txBody>
          <a:bodyPr wrap="square" anchor="t" lIns="36576" rIns="36576" tIns="18288" bIns="18288">
            <a:spAutoFit/>
          </a:bodyPr>
          <a:lstStyle/>
          <a:p>
            <a:pPr algn="l"/>
            <a:r>
              <a:rPr sz="1100" b="1" i="0">
                <a:solidFill>
                  <a:srgbClr val="D32F2F"/>
                </a:solidFill>
                <a:latin typeface="Calibri"/>
              </a:rPr>
              <a:t>Critical issues:</a:t>
            </a:r>
          </a:p>
        </p:txBody>
      </p:sp>
      <p:sp>
        <p:nvSpPr>
          <p:cNvPr id="14" name="TextBox 13"/>
          <p:cNvSpPr txBox="1"/>
          <p:nvPr/>
        </p:nvSpPr>
        <p:spPr>
          <a:xfrm>
            <a:off x="960120" y="4892040"/>
            <a:ext cx="3200400" cy="548640"/>
          </a:xfrm>
          <a:prstGeom prst="rect">
            <a:avLst/>
          </a:prstGeom>
          <a:noFill/>
        </p:spPr>
        <p:txBody>
          <a:bodyPr wrap="square" anchor="t" lIns="36576" rIns="36576" tIns="18288" bIns="18288">
            <a:spAutoFit/>
          </a:bodyPr>
          <a:lstStyle/>
          <a:p>
            <a:pPr algn="l"/>
            <a:r>
              <a:rPr sz="1000" b="0" i="0">
                <a:solidFill>
                  <a:srgbClr val="0F1C2E"/>
                </a:solidFill>
                <a:latin typeface="Calibri"/>
              </a:rPr>
              <a:t>Slow approval by the Regional Ethics Committee, and KPI sign-off slipping past M3.</a:t>
            </a:r>
          </a:p>
        </p:txBody>
      </p:sp>
      <p:sp>
        <p:nvSpPr>
          <p:cNvPr id="15" name="TextBox 14"/>
          <p:cNvSpPr txBox="1"/>
          <p:nvPr/>
        </p:nvSpPr>
        <p:spPr>
          <a:xfrm>
            <a:off x="960120" y="5532120"/>
            <a:ext cx="3200400" cy="274320"/>
          </a:xfrm>
          <a:prstGeom prst="rect">
            <a:avLst/>
          </a:prstGeom>
          <a:noFill/>
        </p:spPr>
        <p:txBody>
          <a:bodyPr wrap="square" anchor="t" lIns="36576" rIns="36576" tIns="18288" bIns="18288">
            <a:spAutoFit/>
          </a:bodyPr>
          <a:lstStyle/>
          <a:p>
            <a:pPr algn="l"/>
            <a:r>
              <a:rPr sz="1100" b="1" i="0">
                <a:solidFill>
                  <a:srgbClr val="D32F2F"/>
                </a:solidFill>
                <a:latin typeface="Calibri"/>
              </a:rPr>
              <a:t>Mitigation:</a:t>
            </a:r>
          </a:p>
        </p:txBody>
      </p:sp>
      <p:sp>
        <p:nvSpPr>
          <p:cNvPr id="16" name="TextBox 15"/>
          <p:cNvSpPr txBox="1"/>
          <p:nvPr/>
        </p:nvSpPr>
        <p:spPr>
          <a:xfrm>
            <a:off x="960120" y="5806440"/>
            <a:ext cx="3200400" cy="548640"/>
          </a:xfrm>
          <a:prstGeom prst="rect">
            <a:avLst/>
          </a:prstGeom>
          <a:noFill/>
        </p:spPr>
        <p:txBody>
          <a:bodyPr wrap="square" anchor="t" lIns="36576" rIns="36576" tIns="18288" bIns="18288">
            <a:spAutoFit/>
          </a:bodyPr>
          <a:lstStyle/>
          <a:p>
            <a:pPr algn="l"/>
            <a:r>
              <a:rPr sz="1000" b="0" i="0">
                <a:solidFill>
                  <a:srgbClr val="0F1C2E"/>
                </a:solidFill>
                <a:latin typeface="Calibri"/>
              </a:rPr>
              <a:t>Lock D1.1 KPIs by mid-August, then run protocol drafting and EC pre-submission in parallel from M3 to M4 to absorb committee review time.</a:t>
            </a:r>
          </a:p>
        </p:txBody>
      </p:sp>
      <p:sp>
        <p:nvSpPr>
          <p:cNvPr id="17" name="Rectangle 16"/>
          <p:cNvSpPr/>
          <p:nvPr/>
        </p:nvSpPr>
        <p:spPr>
          <a:xfrm>
            <a:off x="4846320" y="1280160"/>
            <a:ext cx="1028700"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1280160"/>
            <a:ext cx="845820" cy="411480"/>
          </a:xfrm>
          <a:prstGeom prst="rect">
            <a:avLst/>
          </a:prstGeom>
          <a:noFill/>
        </p:spPr>
        <p:txBody>
          <a:bodyPr wrap="square" anchor="ctr" lIns="36576" rIns="36576" tIns="18288" bIns="18288">
            <a:spAutoFit/>
          </a:bodyPr>
          <a:lstStyle/>
          <a:p>
            <a:pPr algn="l"/>
            <a:r>
              <a:rPr sz="1100" b="1" i="0">
                <a:solidFill>
                  <a:srgbClr val="FFFFFF"/>
                </a:solidFill>
                <a:latin typeface="Calibri"/>
              </a:rPr>
              <a:t>ID</a:t>
            </a:r>
          </a:p>
        </p:txBody>
      </p:sp>
      <p:sp>
        <p:nvSpPr>
          <p:cNvPr id="19" name="Rectangle 18"/>
          <p:cNvSpPr/>
          <p:nvPr/>
        </p:nvSpPr>
        <p:spPr>
          <a:xfrm>
            <a:off x="5875020" y="1280160"/>
            <a:ext cx="3771900"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66460" y="1280160"/>
            <a:ext cx="3589020" cy="411480"/>
          </a:xfrm>
          <a:prstGeom prst="rect">
            <a:avLst/>
          </a:prstGeom>
          <a:noFill/>
        </p:spPr>
        <p:txBody>
          <a:bodyPr wrap="square" anchor="ctr" lIns="36576" rIns="36576" tIns="18288" bIns="18288">
            <a:spAutoFit/>
          </a:bodyPr>
          <a:lstStyle/>
          <a:p>
            <a:pPr algn="l"/>
            <a:r>
              <a:rPr sz="1100" b="1" i="0">
                <a:solidFill>
                  <a:srgbClr val="FFFFFF"/>
                </a:solidFill>
                <a:latin typeface="Calibri"/>
              </a:rPr>
              <a:t>Deliverable / Activity</a:t>
            </a:r>
          </a:p>
        </p:txBody>
      </p:sp>
      <p:sp>
        <p:nvSpPr>
          <p:cNvPr id="21" name="Rectangle 20"/>
          <p:cNvSpPr/>
          <p:nvPr/>
        </p:nvSpPr>
        <p:spPr>
          <a:xfrm>
            <a:off x="9646920" y="1280160"/>
            <a:ext cx="2057400"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8360" y="1280160"/>
            <a:ext cx="1874520" cy="411480"/>
          </a:xfrm>
          <a:prstGeom prst="rect">
            <a:avLst/>
          </a:prstGeom>
          <a:noFill/>
        </p:spPr>
        <p:txBody>
          <a:bodyPr wrap="square" anchor="ctr" lIns="36576" rIns="36576" tIns="18288" bIns="18288">
            <a:spAutoFit/>
          </a:bodyPr>
          <a:lstStyle/>
          <a:p>
            <a:pPr algn="l"/>
            <a:r>
              <a:rPr sz="1100" b="1" i="0">
                <a:solidFill>
                  <a:srgbClr val="FFFFFF"/>
                </a:solidFill>
                <a:latin typeface="Calibri"/>
              </a:rPr>
              <a:t>Expected Deadline</a:t>
            </a:r>
          </a:p>
        </p:txBody>
      </p:sp>
      <p:sp>
        <p:nvSpPr>
          <p:cNvPr id="23" name="Rectangle 22"/>
          <p:cNvSpPr/>
          <p:nvPr/>
        </p:nvSpPr>
        <p:spPr>
          <a:xfrm>
            <a:off x="4846320" y="1691640"/>
            <a:ext cx="10287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1691640"/>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D1.1</a:t>
            </a:r>
          </a:p>
        </p:txBody>
      </p:sp>
      <p:sp>
        <p:nvSpPr>
          <p:cNvPr id="25" name="Rectangle 24"/>
          <p:cNvSpPr/>
          <p:nvPr/>
        </p:nvSpPr>
        <p:spPr>
          <a:xfrm>
            <a:off x="5875020" y="1691640"/>
            <a:ext cx="37719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6460" y="1691640"/>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Definition of Clinical Requirements and KPIs</a:t>
            </a:r>
          </a:p>
        </p:txBody>
      </p:sp>
      <p:sp>
        <p:nvSpPr>
          <p:cNvPr id="27" name="Rectangle 26"/>
          <p:cNvSpPr/>
          <p:nvPr/>
        </p:nvSpPr>
        <p:spPr>
          <a:xfrm>
            <a:off x="9646920" y="1691640"/>
            <a:ext cx="20574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1691640"/>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Mid-August 2026</a:t>
            </a:r>
          </a:p>
        </p:txBody>
      </p:sp>
      <p:sp>
        <p:nvSpPr>
          <p:cNvPr id="29" name="Rectangle 28"/>
          <p:cNvSpPr/>
          <p:nvPr/>
        </p:nvSpPr>
        <p:spPr>
          <a:xfrm>
            <a:off x="4846320" y="2075688"/>
            <a:ext cx="10287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075688"/>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D1.2</a:t>
            </a:r>
          </a:p>
        </p:txBody>
      </p:sp>
      <p:sp>
        <p:nvSpPr>
          <p:cNvPr id="31" name="Rectangle 30"/>
          <p:cNvSpPr/>
          <p:nvPr/>
        </p:nvSpPr>
        <p:spPr>
          <a:xfrm>
            <a:off x="5875020" y="2075688"/>
            <a:ext cx="37719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66460" y="2075688"/>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Submission to the Ethics Committee</a:t>
            </a:r>
          </a:p>
        </p:txBody>
      </p:sp>
      <p:sp>
        <p:nvSpPr>
          <p:cNvPr id="33" name="Rectangle 32"/>
          <p:cNvSpPr/>
          <p:nvPr/>
        </p:nvSpPr>
        <p:spPr>
          <a:xfrm>
            <a:off x="9646920" y="2075688"/>
            <a:ext cx="20574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38360" y="2075688"/>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Mid-September 2026</a:t>
            </a:r>
          </a:p>
        </p:txBody>
      </p:sp>
      <p:sp>
        <p:nvSpPr>
          <p:cNvPr id="35" name="Rectangle 34"/>
          <p:cNvSpPr/>
          <p:nvPr/>
        </p:nvSpPr>
        <p:spPr>
          <a:xfrm>
            <a:off x="4846320" y="2459736"/>
            <a:ext cx="10287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2459736"/>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T5.4</a:t>
            </a:r>
          </a:p>
        </p:txBody>
      </p:sp>
      <p:sp>
        <p:nvSpPr>
          <p:cNvPr id="37" name="Rectangle 36"/>
          <p:cNvSpPr/>
          <p:nvPr/>
        </p:nvSpPr>
        <p:spPr>
          <a:xfrm>
            <a:off x="5875020" y="2459736"/>
            <a:ext cx="37719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66460" y="2459736"/>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AI vs. Gold Standard Comparison</a:t>
            </a:r>
          </a:p>
        </p:txBody>
      </p:sp>
      <p:sp>
        <p:nvSpPr>
          <p:cNvPr id="39" name="Rectangle 38"/>
          <p:cNvSpPr/>
          <p:nvPr/>
        </p:nvSpPr>
        <p:spPr>
          <a:xfrm>
            <a:off x="9646920" y="2459736"/>
            <a:ext cx="20574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38360" y="2459736"/>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Mid-October 2027</a:t>
            </a:r>
          </a:p>
        </p:txBody>
      </p:sp>
      <p:sp>
        <p:nvSpPr>
          <p:cNvPr id="41" name="Rectangle 40"/>
          <p:cNvSpPr/>
          <p:nvPr/>
        </p:nvSpPr>
        <p:spPr>
          <a:xfrm>
            <a:off x="4846320" y="2843784"/>
            <a:ext cx="10287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37760" y="2843784"/>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D5.1</a:t>
            </a:r>
          </a:p>
        </p:txBody>
      </p:sp>
      <p:sp>
        <p:nvSpPr>
          <p:cNvPr id="43" name="Rectangle 42"/>
          <p:cNvSpPr/>
          <p:nvPr/>
        </p:nvSpPr>
        <p:spPr>
          <a:xfrm>
            <a:off x="5875020" y="2843784"/>
            <a:ext cx="37719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66460" y="2843784"/>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Final Report - Validation &amp; Dissemination</a:t>
            </a:r>
          </a:p>
        </p:txBody>
      </p:sp>
      <p:sp>
        <p:nvSpPr>
          <p:cNvPr id="45" name="Rectangle 44"/>
          <p:cNvSpPr/>
          <p:nvPr/>
        </p:nvSpPr>
        <p:spPr>
          <a:xfrm>
            <a:off x="9646920" y="2843784"/>
            <a:ext cx="20574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38360" y="2843784"/>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18 December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Focus Partner: Buccarella Associates</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280160"/>
            <a:ext cx="4114800" cy="5120640"/>
          </a:xfrm>
          <a:prstGeom prst="roundRect">
            <a:avLst>
              <a:gd name="adj" fmla="val 6000"/>
            </a:avLst>
          </a:prstGeom>
          <a:solidFill>
            <a:srgbClr val="FFFFFF"/>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08760"/>
            <a:ext cx="3566160" cy="365760"/>
          </a:xfrm>
          <a:prstGeom prst="rect">
            <a:avLst/>
          </a:prstGeom>
          <a:noFill/>
        </p:spPr>
        <p:txBody>
          <a:bodyPr wrap="square" anchor="t" lIns="36576" rIns="36576" tIns="18288" bIns="18288">
            <a:spAutoFit/>
          </a:bodyPr>
          <a:lstStyle/>
          <a:p>
            <a:pPr algn="l"/>
            <a:r>
              <a:rPr sz="1400" b="1" i="0">
                <a:solidFill>
                  <a:srgbClr val="0F1C2E"/>
                </a:solidFill>
                <a:latin typeface="Calibri"/>
              </a:rPr>
              <a:t>Role &amp; Activities</a:t>
            </a:r>
          </a:p>
        </p:txBody>
      </p:sp>
      <p:sp>
        <p:nvSpPr>
          <p:cNvPr id="6" name="Rectangle 5"/>
          <p:cNvSpPr/>
          <p:nvPr/>
        </p:nvSpPr>
        <p:spPr>
          <a:xfrm>
            <a:off x="777240" y="1892808"/>
            <a:ext cx="3566160" cy="10000"/>
          </a:xfrm>
          <a:prstGeom prst="rect">
            <a:avLst/>
          </a:prstGeom>
          <a:solidFill>
            <a:srgbClr val="CFD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3566160" cy="274320"/>
          </a:xfrm>
          <a:prstGeom prst="rect">
            <a:avLst/>
          </a:prstGeom>
          <a:noFill/>
        </p:spPr>
        <p:txBody>
          <a:bodyPr wrap="square" anchor="t" lIns="36576" rIns="36576" tIns="18288" bIns="18288">
            <a:spAutoFit/>
          </a:bodyPr>
          <a:lstStyle/>
          <a:p>
            <a:pPr algn="l"/>
            <a:r>
              <a:rPr sz="1100" b="1" i="0">
                <a:solidFill>
                  <a:srgbClr val="0F1C2E"/>
                </a:solidFill>
                <a:latin typeface="Calibri"/>
              </a:rPr>
              <a:t>Clinical-Operational Partner:</a:t>
            </a:r>
          </a:p>
        </p:txBody>
      </p:sp>
      <p:sp>
        <p:nvSpPr>
          <p:cNvPr id="8" name="TextBox 7"/>
          <p:cNvSpPr txBox="1"/>
          <p:nvPr/>
        </p:nvSpPr>
        <p:spPr>
          <a:xfrm>
            <a:off x="777240" y="2331720"/>
            <a:ext cx="3566160" cy="457200"/>
          </a:xfrm>
          <a:prstGeom prst="rect">
            <a:avLst/>
          </a:prstGeom>
          <a:noFill/>
        </p:spPr>
        <p:txBody>
          <a:bodyPr wrap="square" anchor="t" lIns="36576" rIns="36576" tIns="18288" bIns="18288">
            <a:spAutoFit/>
          </a:bodyPr>
          <a:lstStyle/>
          <a:p>
            <a:pPr algn="l"/>
            <a:r>
              <a:rPr sz="1100" b="0" i="0">
                <a:solidFill>
                  <a:srgbClr val="556575"/>
                </a:solidFill>
                <a:latin typeface="Calibri"/>
              </a:rPr>
              <a:t>Deputy for Real-World Validation.</a:t>
            </a:r>
          </a:p>
        </p:txBody>
      </p:sp>
      <p:sp>
        <p:nvSpPr>
          <p:cNvPr id="9" name="TextBox 8"/>
          <p:cNvSpPr txBox="1"/>
          <p:nvPr/>
        </p:nvSpPr>
        <p:spPr>
          <a:xfrm>
            <a:off x="777240" y="2788920"/>
            <a:ext cx="3566160" cy="1463040"/>
          </a:xfrm>
          <a:prstGeom prst="rect">
            <a:avLst/>
          </a:prstGeom>
          <a:noFill/>
        </p:spPr>
        <p:txBody>
          <a:bodyPr wrap="square" anchor="t" lIns="36576" rIns="36576" tIns="18288" bIns="18288">
            <a:spAutoFit/>
          </a:bodyPr>
          <a:lstStyle/>
          <a:p>
            <a:pPr algn="l"/>
            <a:r>
              <a:rPr sz="1100" b="1" i="0">
                <a:solidFill>
                  <a:srgbClr val="0F1C2E"/>
                </a:solidFill>
                <a:latin typeface="Calibri"/>
              </a:rPr>
              <a:t>Unlike the University, which deals with pure scientific validation, the Buccarella Studio provides the fundamental perspective of the real environment.</a:t>
            </a:r>
          </a:p>
        </p:txBody>
      </p:sp>
      <p:sp>
        <p:nvSpPr>
          <p:cNvPr id="10" name="Rectangle 9"/>
          <p:cNvSpPr/>
          <p:nvPr/>
        </p:nvSpPr>
        <p:spPr>
          <a:xfrm>
            <a:off x="777240" y="4526280"/>
            <a:ext cx="45720" cy="1874519"/>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4526280"/>
            <a:ext cx="3474720" cy="1874519"/>
          </a:xfrm>
          <a:prstGeom prst="roundRect">
            <a:avLst>
              <a:gd name="adj" fmla="val 6000"/>
            </a:avLst>
          </a:prstGeom>
          <a:solidFill>
            <a:srgbClr val="FDECEC"/>
          </a:solidFill>
          <a:ln w="6350">
            <a:solidFill>
              <a:srgbClr val="FDEC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617720"/>
            <a:ext cx="3200400" cy="274320"/>
          </a:xfrm>
          <a:prstGeom prst="rect">
            <a:avLst/>
          </a:prstGeom>
          <a:noFill/>
        </p:spPr>
        <p:txBody>
          <a:bodyPr wrap="square" anchor="t" lIns="36576" rIns="36576" tIns="18288" bIns="18288">
            <a:spAutoFit/>
          </a:bodyPr>
          <a:lstStyle/>
          <a:p>
            <a:pPr algn="l"/>
            <a:r>
              <a:rPr sz="1100" b="1" i="0">
                <a:solidFill>
                  <a:srgbClr val="D32F2F"/>
                </a:solidFill>
                <a:latin typeface="Calibri"/>
              </a:rPr>
              <a:t>Critical issues:</a:t>
            </a:r>
          </a:p>
        </p:txBody>
      </p:sp>
      <p:sp>
        <p:nvSpPr>
          <p:cNvPr id="13" name="TextBox 12"/>
          <p:cNvSpPr txBox="1"/>
          <p:nvPr/>
        </p:nvSpPr>
        <p:spPr>
          <a:xfrm>
            <a:off x="960120" y="4892040"/>
            <a:ext cx="3200400" cy="548640"/>
          </a:xfrm>
          <a:prstGeom prst="rect">
            <a:avLst/>
          </a:prstGeom>
          <a:noFill/>
        </p:spPr>
        <p:txBody>
          <a:bodyPr wrap="square" anchor="t" lIns="36576" rIns="36576" tIns="18288" bIns="18288">
            <a:spAutoFit/>
          </a:bodyPr>
          <a:lstStyle/>
          <a:p>
            <a:pPr algn="l"/>
            <a:r>
              <a:rPr sz="1000" b="0" i="0">
                <a:solidFill>
                  <a:srgbClr val="0F1C2E"/>
                </a:solidFill>
                <a:latin typeface="Calibri"/>
              </a:rPr>
              <a:t>Difficulty in recruiting patients during the months of WP5.</a:t>
            </a:r>
          </a:p>
        </p:txBody>
      </p:sp>
      <p:sp>
        <p:nvSpPr>
          <p:cNvPr id="14" name="TextBox 13"/>
          <p:cNvSpPr txBox="1"/>
          <p:nvPr/>
        </p:nvSpPr>
        <p:spPr>
          <a:xfrm>
            <a:off x="960120" y="5532120"/>
            <a:ext cx="3200400" cy="274320"/>
          </a:xfrm>
          <a:prstGeom prst="rect">
            <a:avLst/>
          </a:prstGeom>
          <a:noFill/>
        </p:spPr>
        <p:txBody>
          <a:bodyPr wrap="square" anchor="t" lIns="36576" rIns="36576" tIns="18288" bIns="18288">
            <a:spAutoFit/>
          </a:bodyPr>
          <a:lstStyle/>
          <a:p>
            <a:pPr algn="l"/>
            <a:r>
              <a:rPr sz="1100" b="1" i="0">
                <a:solidFill>
                  <a:srgbClr val="D32F2F"/>
                </a:solidFill>
                <a:latin typeface="Calibri"/>
              </a:rPr>
              <a:t>Mitigation:</a:t>
            </a:r>
          </a:p>
        </p:txBody>
      </p:sp>
      <p:sp>
        <p:nvSpPr>
          <p:cNvPr id="15" name="TextBox 14"/>
          <p:cNvSpPr txBox="1"/>
          <p:nvPr/>
        </p:nvSpPr>
        <p:spPr>
          <a:xfrm>
            <a:off x="960120" y="5806440"/>
            <a:ext cx="3200400" cy="548640"/>
          </a:xfrm>
          <a:prstGeom prst="rect">
            <a:avLst/>
          </a:prstGeom>
          <a:noFill/>
        </p:spPr>
        <p:txBody>
          <a:bodyPr wrap="square" anchor="t" lIns="36576" rIns="36576" tIns="18288" bIns="18288">
            <a:spAutoFit/>
          </a:bodyPr>
          <a:lstStyle/>
          <a:p>
            <a:pPr algn="l"/>
            <a:r>
              <a:rPr sz="1000" b="0" i="0">
                <a:solidFill>
                  <a:srgbClr val="0F1C2E"/>
                </a:solidFill>
                <a:latin typeface="Calibri"/>
              </a:rPr>
              <a:t>Pre-screening and pre-enrollment in the months preceding the tests.</a:t>
            </a:r>
          </a:p>
        </p:txBody>
      </p:sp>
      <p:sp>
        <p:nvSpPr>
          <p:cNvPr id="16" name="Rectangle 15"/>
          <p:cNvSpPr/>
          <p:nvPr/>
        </p:nvSpPr>
        <p:spPr>
          <a:xfrm>
            <a:off x="4846320" y="1280160"/>
            <a:ext cx="1028700"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1280160"/>
            <a:ext cx="845820" cy="411480"/>
          </a:xfrm>
          <a:prstGeom prst="rect">
            <a:avLst/>
          </a:prstGeom>
          <a:noFill/>
        </p:spPr>
        <p:txBody>
          <a:bodyPr wrap="square" anchor="ctr" lIns="36576" rIns="36576" tIns="18288" bIns="18288">
            <a:spAutoFit/>
          </a:bodyPr>
          <a:lstStyle/>
          <a:p>
            <a:pPr algn="l"/>
            <a:r>
              <a:rPr sz="1100" b="1" i="0">
                <a:solidFill>
                  <a:srgbClr val="FFFFFF"/>
                </a:solidFill>
                <a:latin typeface="Calibri"/>
              </a:rPr>
              <a:t>ID</a:t>
            </a:r>
          </a:p>
        </p:txBody>
      </p:sp>
      <p:sp>
        <p:nvSpPr>
          <p:cNvPr id="18" name="Rectangle 17"/>
          <p:cNvSpPr/>
          <p:nvPr/>
        </p:nvSpPr>
        <p:spPr>
          <a:xfrm>
            <a:off x="5875020" y="1280160"/>
            <a:ext cx="3771900"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66460" y="1280160"/>
            <a:ext cx="3589020" cy="411480"/>
          </a:xfrm>
          <a:prstGeom prst="rect">
            <a:avLst/>
          </a:prstGeom>
          <a:noFill/>
        </p:spPr>
        <p:txBody>
          <a:bodyPr wrap="square" anchor="ctr" lIns="36576" rIns="36576" tIns="18288" bIns="18288">
            <a:spAutoFit/>
          </a:bodyPr>
          <a:lstStyle/>
          <a:p>
            <a:pPr algn="l"/>
            <a:r>
              <a:rPr sz="1100" b="1" i="0">
                <a:solidFill>
                  <a:srgbClr val="FFFFFF"/>
                </a:solidFill>
                <a:latin typeface="Calibri"/>
              </a:rPr>
              <a:t>Deliverable / Activity</a:t>
            </a:r>
          </a:p>
        </p:txBody>
      </p:sp>
      <p:sp>
        <p:nvSpPr>
          <p:cNvPr id="20" name="Rectangle 19"/>
          <p:cNvSpPr/>
          <p:nvPr/>
        </p:nvSpPr>
        <p:spPr>
          <a:xfrm>
            <a:off x="9646920" y="1280160"/>
            <a:ext cx="2057400"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60" y="1280160"/>
            <a:ext cx="1874520" cy="411480"/>
          </a:xfrm>
          <a:prstGeom prst="rect">
            <a:avLst/>
          </a:prstGeom>
          <a:noFill/>
        </p:spPr>
        <p:txBody>
          <a:bodyPr wrap="square" anchor="ctr" lIns="36576" rIns="36576" tIns="18288" bIns="18288">
            <a:spAutoFit/>
          </a:bodyPr>
          <a:lstStyle/>
          <a:p>
            <a:pPr algn="l"/>
            <a:r>
              <a:rPr sz="1100" b="1" i="0">
                <a:solidFill>
                  <a:srgbClr val="FFFFFF"/>
                </a:solidFill>
                <a:latin typeface="Calibri"/>
              </a:rPr>
              <a:t>Expected Deadline</a:t>
            </a:r>
          </a:p>
        </p:txBody>
      </p:sp>
      <p:sp>
        <p:nvSpPr>
          <p:cNvPr id="22" name="Rectangle 21"/>
          <p:cNvSpPr/>
          <p:nvPr/>
        </p:nvSpPr>
        <p:spPr>
          <a:xfrm>
            <a:off x="4846320" y="1691640"/>
            <a:ext cx="10287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1691640"/>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D1.2</a:t>
            </a:r>
          </a:p>
        </p:txBody>
      </p:sp>
      <p:sp>
        <p:nvSpPr>
          <p:cNvPr id="24" name="Rectangle 23"/>
          <p:cNvSpPr/>
          <p:nvPr/>
        </p:nvSpPr>
        <p:spPr>
          <a:xfrm>
            <a:off x="5875020" y="1691640"/>
            <a:ext cx="37719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66460" y="1691640"/>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Workflow Protocol for the Ethics Committee</a:t>
            </a:r>
          </a:p>
        </p:txBody>
      </p:sp>
      <p:sp>
        <p:nvSpPr>
          <p:cNvPr id="26" name="Rectangle 25"/>
          <p:cNvSpPr/>
          <p:nvPr/>
        </p:nvSpPr>
        <p:spPr>
          <a:xfrm>
            <a:off x="9646920" y="1691640"/>
            <a:ext cx="20574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1691640"/>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Mid-September 2026</a:t>
            </a:r>
          </a:p>
        </p:txBody>
      </p:sp>
      <p:sp>
        <p:nvSpPr>
          <p:cNvPr id="28" name="Rectangle 27"/>
          <p:cNvSpPr/>
          <p:nvPr/>
        </p:nvSpPr>
        <p:spPr>
          <a:xfrm>
            <a:off x="4846320" y="2075688"/>
            <a:ext cx="10287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0" y="2075688"/>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D2.1</a:t>
            </a:r>
          </a:p>
        </p:txBody>
      </p:sp>
      <p:sp>
        <p:nvSpPr>
          <p:cNvPr id="30" name="Rectangle 29"/>
          <p:cNvSpPr/>
          <p:nvPr/>
        </p:nvSpPr>
        <p:spPr>
          <a:xfrm>
            <a:off x="5875020" y="2075688"/>
            <a:ext cx="37719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66460" y="2075688"/>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Feedback UI/UX - Biofeedback and Dashboard</a:t>
            </a:r>
          </a:p>
        </p:txBody>
      </p:sp>
      <p:sp>
        <p:nvSpPr>
          <p:cNvPr id="32" name="Rectangle 31"/>
          <p:cNvSpPr/>
          <p:nvPr/>
        </p:nvSpPr>
        <p:spPr>
          <a:xfrm>
            <a:off x="9646920" y="2075688"/>
            <a:ext cx="20574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38360" y="2075688"/>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Mid-November 2026</a:t>
            </a:r>
          </a:p>
        </p:txBody>
      </p:sp>
      <p:sp>
        <p:nvSpPr>
          <p:cNvPr id="34" name="Rectangle 33"/>
          <p:cNvSpPr/>
          <p:nvPr/>
        </p:nvSpPr>
        <p:spPr>
          <a:xfrm>
            <a:off x="4846320" y="2459736"/>
            <a:ext cx="10287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459736"/>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T3.2</a:t>
            </a:r>
          </a:p>
        </p:txBody>
      </p:sp>
      <p:sp>
        <p:nvSpPr>
          <p:cNvPr id="36" name="Rectangle 35"/>
          <p:cNvSpPr/>
          <p:nvPr/>
        </p:nvSpPr>
        <p:spPr>
          <a:xfrm>
            <a:off x="5875020" y="2459736"/>
            <a:ext cx="37719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66460" y="2459736"/>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STS Dataset Acquisition (clinical hosting)</a:t>
            </a:r>
          </a:p>
        </p:txBody>
      </p:sp>
      <p:sp>
        <p:nvSpPr>
          <p:cNvPr id="38" name="Rectangle 37"/>
          <p:cNvSpPr/>
          <p:nvPr/>
        </p:nvSpPr>
        <p:spPr>
          <a:xfrm>
            <a:off x="9646920" y="2459736"/>
            <a:ext cx="20574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38360" y="2459736"/>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M9 to M15</a:t>
            </a:r>
          </a:p>
        </p:txBody>
      </p:sp>
      <p:sp>
        <p:nvSpPr>
          <p:cNvPr id="40" name="Rectangle 39"/>
          <p:cNvSpPr/>
          <p:nvPr/>
        </p:nvSpPr>
        <p:spPr>
          <a:xfrm>
            <a:off x="4846320" y="2843784"/>
            <a:ext cx="10287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2843784"/>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M5.1</a:t>
            </a:r>
          </a:p>
        </p:txBody>
      </p:sp>
      <p:sp>
        <p:nvSpPr>
          <p:cNvPr id="42" name="Rectangle 41"/>
          <p:cNvSpPr/>
          <p:nvPr/>
        </p:nvSpPr>
        <p:spPr>
          <a:xfrm>
            <a:off x="5875020" y="2843784"/>
            <a:ext cx="37719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66460" y="2843784"/>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Experimental Launch - TRL6 Test</a:t>
            </a:r>
          </a:p>
        </p:txBody>
      </p:sp>
      <p:sp>
        <p:nvSpPr>
          <p:cNvPr id="44" name="Rectangle 43"/>
          <p:cNvSpPr/>
          <p:nvPr/>
        </p:nvSpPr>
        <p:spPr>
          <a:xfrm>
            <a:off x="9646920" y="2843784"/>
            <a:ext cx="2057400"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38360" y="2843784"/>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Mid-September 2027</a:t>
            </a:r>
          </a:p>
        </p:txBody>
      </p:sp>
      <p:sp>
        <p:nvSpPr>
          <p:cNvPr id="46" name="Rectangle 45"/>
          <p:cNvSpPr/>
          <p:nvPr/>
        </p:nvSpPr>
        <p:spPr>
          <a:xfrm>
            <a:off x="4846320" y="3227832"/>
            <a:ext cx="10287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227832"/>
            <a:ext cx="8458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D5.1</a:t>
            </a:r>
          </a:p>
        </p:txBody>
      </p:sp>
      <p:sp>
        <p:nvSpPr>
          <p:cNvPr id="48" name="Rectangle 47"/>
          <p:cNvSpPr/>
          <p:nvPr/>
        </p:nvSpPr>
        <p:spPr>
          <a:xfrm>
            <a:off x="5875020" y="3227832"/>
            <a:ext cx="37719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66460" y="3227832"/>
            <a:ext cx="35890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Validation Report - Data and Adherence</a:t>
            </a:r>
          </a:p>
        </p:txBody>
      </p:sp>
      <p:sp>
        <p:nvSpPr>
          <p:cNvPr id="50" name="Rectangle 49"/>
          <p:cNvSpPr/>
          <p:nvPr/>
        </p:nvSpPr>
        <p:spPr>
          <a:xfrm>
            <a:off x="9646920" y="3227832"/>
            <a:ext cx="2057400"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38360" y="3227832"/>
            <a:ext cx="1874520" cy="384048"/>
          </a:xfrm>
          <a:prstGeom prst="rect">
            <a:avLst/>
          </a:prstGeom>
          <a:noFill/>
        </p:spPr>
        <p:txBody>
          <a:bodyPr wrap="square" anchor="ctr" lIns="36576" rIns="36576" tIns="18288" bIns="18288">
            <a:spAutoFit/>
          </a:bodyPr>
          <a:lstStyle/>
          <a:p>
            <a:pPr algn="l"/>
            <a:r>
              <a:rPr sz="1000" b="0" i="0">
                <a:solidFill>
                  <a:srgbClr val="0F1C2E"/>
                </a:solidFill>
                <a:latin typeface="Calibri"/>
              </a:rPr>
              <a:t>18 December 2027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Integrated Operational Contribution (UniGe &amp; Buccarella)</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280160"/>
            <a:ext cx="892454"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0"/>
            <a:ext cx="709574" cy="411480"/>
          </a:xfrm>
          <a:prstGeom prst="rect">
            <a:avLst/>
          </a:prstGeom>
          <a:noFill/>
        </p:spPr>
        <p:txBody>
          <a:bodyPr wrap="square" anchor="ctr" lIns="36576" rIns="36576" tIns="18288" bIns="18288">
            <a:spAutoFit/>
          </a:bodyPr>
          <a:lstStyle/>
          <a:p>
            <a:pPr algn="l"/>
            <a:r>
              <a:rPr sz="1000" b="1" i="0">
                <a:solidFill>
                  <a:srgbClr val="FFFFFF"/>
                </a:solidFill>
                <a:latin typeface="Calibri"/>
              </a:rPr>
              <a:t>ID</a:t>
            </a:r>
          </a:p>
        </p:txBody>
      </p:sp>
      <p:sp>
        <p:nvSpPr>
          <p:cNvPr id="6" name="Rectangle 5"/>
          <p:cNvSpPr/>
          <p:nvPr/>
        </p:nvSpPr>
        <p:spPr>
          <a:xfrm>
            <a:off x="1395374" y="1280160"/>
            <a:ext cx="2231136"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86814" y="1280160"/>
            <a:ext cx="2048256" cy="411480"/>
          </a:xfrm>
          <a:prstGeom prst="rect">
            <a:avLst/>
          </a:prstGeom>
          <a:noFill/>
        </p:spPr>
        <p:txBody>
          <a:bodyPr wrap="square" anchor="ctr" lIns="36576" rIns="36576" tIns="18288" bIns="18288">
            <a:spAutoFit/>
          </a:bodyPr>
          <a:lstStyle/>
          <a:p>
            <a:pPr algn="l"/>
            <a:r>
              <a:rPr sz="1000" b="1" i="0">
                <a:solidFill>
                  <a:srgbClr val="FFFFFF"/>
                </a:solidFill>
                <a:latin typeface="Calibri"/>
              </a:rPr>
              <a:t>Deliverable</a:t>
            </a:r>
          </a:p>
        </p:txBody>
      </p:sp>
      <p:sp>
        <p:nvSpPr>
          <p:cNvPr id="8" name="Rectangle 7"/>
          <p:cNvSpPr/>
          <p:nvPr/>
        </p:nvSpPr>
        <p:spPr>
          <a:xfrm>
            <a:off x="3626510" y="1280160"/>
            <a:ext cx="1450238"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7950" y="1280160"/>
            <a:ext cx="1267358" cy="411480"/>
          </a:xfrm>
          <a:prstGeom prst="rect">
            <a:avLst/>
          </a:prstGeom>
          <a:noFill/>
        </p:spPr>
        <p:txBody>
          <a:bodyPr wrap="square" anchor="ctr" lIns="36576" rIns="36576" tIns="18288" bIns="18288">
            <a:spAutoFit/>
          </a:bodyPr>
          <a:lstStyle/>
          <a:p>
            <a:pPr algn="l"/>
            <a:r>
              <a:rPr sz="1000" b="1" i="0">
                <a:solidFill>
                  <a:srgbClr val="FFFFFF"/>
                </a:solidFill>
                <a:latin typeface="Calibri"/>
              </a:rPr>
              <a:t>Expiration</a:t>
            </a:r>
          </a:p>
        </p:txBody>
      </p:sp>
      <p:sp>
        <p:nvSpPr>
          <p:cNvPr id="10" name="Rectangle 9"/>
          <p:cNvSpPr/>
          <p:nvPr/>
        </p:nvSpPr>
        <p:spPr>
          <a:xfrm>
            <a:off x="5076748" y="1280160"/>
            <a:ext cx="3346704"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8188" y="1280160"/>
            <a:ext cx="3163824" cy="411480"/>
          </a:xfrm>
          <a:prstGeom prst="rect">
            <a:avLst/>
          </a:prstGeom>
          <a:noFill/>
        </p:spPr>
        <p:txBody>
          <a:bodyPr wrap="square" anchor="ctr" lIns="36576" rIns="36576" tIns="18288" bIns="18288">
            <a:spAutoFit/>
          </a:bodyPr>
          <a:lstStyle/>
          <a:p>
            <a:pPr algn="l"/>
            <a:r>
              <a:rPr sz="1000" b="1" i="0">
                <a:solidFill>
                  <a:srgbClr val="FFFFFF"/>
                </a:solidFill>
                <a:latin typeface="Calibri"/>
              </a:rPr>
              <a:t>UniGe Contribution (Scientific)</a:t>
            </a:r>
          </a:p>
        </p:txBody>
      </p:sp>
      <p:sp>
        <p:nvSpPr>
          <p:cNvPr id="12" name="Rectangle 11"/>
          <p:cNvSpPr/>
          <p:nvPr/>
        </p:nvSpPr>
        <p:spPr>
          <a:xfrm>
            <a:off x="8423452" y="1280160"/>
            <a:ext cx="3235147"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14892" y="1280160"/>
            <a:ext cx="3052267" cy="411480"/>
          </a:xfrm>
          <a:prstGeom prst="rect">
            <a:avLst/>
          </a:prstGeom>
          <a:noFill/>
        </p:spPr>
        <p:txBody>
          <a:bodyPr wrap="square" anchor="ctr" lIns="36576" rIns="36576" tIns="18288" bIns="18288">
            <a:spAutoFit/>
          </a:bodyPr>
          <a:lstStyle/>
          <a:p>
            <a:pPr algn="l"/>
            <a:r>
              <a:rPr sz="1000" b="1" i="0">
                <a:solidFill>
                  <a:srgbClr val="FFFFFF"/>
                </a:solidFill>
                <a:latin typeface="Calibri"/>
              </a:rPr>
              <a:t>Studio Buccarella Contribution (Clinical)</a:t>
            </a:r>
          </a:p>
        </p:txBody>
      </p:sp>
      <p:sp>
        <p:nvSpPr>
          <p:cNvPr id="14" name="Rectangle 13"/>
          <p:cNvSpPr/>
          <p:nvPr/>
        </p:nvSpPr>
        <p:spPr>
          <a:xfrm>
            <a:off x="502920" y="1691640"/>
            <a:ext cx="89245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1691640"/>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D1.1</a:t>
            </a:r>
          </a:p>
        </p:txBody>
      </p:sp>
      <p:sp>
        <p:nvSpPr>
          <p:cNvPr id="16" name="Rectangle 15"/>
          <p:cNvSpPr/>
          <p:nvPr/>
        </p:nvSpPr>
        <p:spPr>
          <a:xfrm>
            <a:off x="1395374" y="1691640"/>
            <a:ext cx="2231136"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86814" y="1691640"/>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Clinical Requirements and KPIs</a:t>
            </a:r>
          </a:p>
        </p:txBody>
      </p:sp>
      <p:sp>
        <p:nvSpPr>
          <p:cNvPr id="18" name="Rectangle 17"/>
          <p:cNvSpPr/>
          <p:nvPr/>
        </p:nvSpPr>
        <p:spPr>
          <a:xfrm>
            <a:off x="3626510" y="1691640"/>
            <a:ext cx="145023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17950" y="1691640"/>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Mid-Aug '26</a:t>
            </a:r>
          </a:p>
        </p:txBody>
      </p:sp>
      <p:sp>
        <p:nvSpPr>
          <p:cNvPr id="20" name="Rectangle 19"/>
          <p:cNvSpPr/>
          <p:nvPr/>
        </p:nvSpPr>
        <p:spPr>
          <a:xfrm>
            <a:off x="5076748" y="1691640"/>
            <a:ext cx="334670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8188" y="1691640"/>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Defines the scientific Ground Truth and KPIs (angles, velocity) used to train the AI.</a:t>
            </a:r>
          </a:p>
        </p:txBody>
      </p:sp>
      <p:sp>
        <p:nvSpPr>
          <p:cNvPr id="22" name="Rectangle 21"/>
          <p:cNvSpPr/>
          <p:nvPr/>
        </p:nvSpPr>
        <p:spPr>
          <a:xfrm>
            <a:off x="8423452" y="1691640"/>
            <a:ext cx="323514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14892" y="1691640"/>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Supplies the functional and usability requirements of the patients.</a:t>
            </a:r>
          </a:p>
        </p:txBody>
      </p:sp>
      <p:sp>
        <p:nvSpPr>
          <p:cNvPr id="24" name="Rectangle 23"/>
          <p:cNvSpPr/>
          <p:nvPr/>
        </p:nvSpPr>
        <p:spPr>
          <a:xfrm>
            <a:off x="502920" y="2075688"/>
            <a:ext cx="892454"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075688"/>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D1.2</a:t>
            </a:r>
          </a:p>
        </p:txBody>
      </p:sp>
      <p:sp>
        <p:nvSpPr>
          <p:cNvPr id="26" name="Rectangle 25"/>
          <p:cNvSpPr/>
          <p:nvPr/>
        </p:nvSpPr>
        <p:spPr>
          <a:xfrm>
            <a:off x="1395374" y="2075688"/>
            <a:ext cx="2231136"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86814" y="2075688"/>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Ethics Protocol</a:t>
            </a:r>
          </a:p>
        </p:txBody>
      </p:sp>
      <p:sp>
        <p:nvSpPr>
          <p:cNvPr id="28" name="Rectangle 27"/>
          <p:cNvSpPr/>
          <p:nvPr/>
        </p:nvSpPr>
        <p:spPr>
          <a:xfrm>
            <a:off x="3626510" y="2075688"/>
            <a:ext cx="145023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17950" y="2075688"/>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Mid-Sep '26</a:t>
            </a:r>
          </a:p>
        </p:txBody>
      </p:sp>
      <p:sp>
        <p:nvSpPr>
          <p:cNvPr id="30" name="Rectangle 29"/>
          <p:cNvSpPr/>
          <p:nvPr/>
        </p:nvSpPr>
        <p:spPr>
          <a:xfrm>
            <a:off x="5076748" y="2075688"/>
            <a:ext cx="3346704"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8188" y="2075688"/>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Scientific and formal coordination for drafting the CER protocol, after D1.1 KPI sign-off.</a:t>
            </a:r>
          </a:p>
        </p:txBody>
      </p:sp>
      <p:sp>
        <p:nvSpPr>
          <p:cNvPr id="32" name="Rectangle 31"/>
          <p:cNvSpPr/>
          <p:nvPr/>
        </p:nvSpPr>
        <p:spPr>
          <a:xfrm>
            <a:off x="8423452" y="2075688"/>
            <a:ext cx="323514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14892" y="2075688"/>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Practical definition of patient inclusion criteria, logistics, and clinical workflow.</a:t>
            </a:r>
          </a:p>
        </p:txBody>
      </p:sp>
      <p:sp>
        <p:nvSpPr>
          <p:cNvPr id="34" name="Rectangle 33"/>
          <p:cNvSpPr/>
          <p:nvPr/>
        </p:nvSpPr>
        <p:spPr>
          <a:xfrm>
            <a:off x="502920" y="2459736"/>
            <a:ext cx="89245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2459736"/>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D2.1</a:t>
            </a:r>
          </a:p>
        </p:txBody>
      </p:sp>
      <p:sp>
        <p:nvSpPr>
          <p:cNvPr id="36" name="Rectangle 35"/>
          <p:cNvSpPr/>
          <p:nvPr/>
        </p:nvSpPr>
        <p:spPr>
          <a:xfrm>
            <a:off x="1395374" y="2459736"/>
            <a:ext cx="2231136"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86814" y="2459736"/>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Feedback UI/UX</a:t>
            </a:r>
          </a:p>
        </p:txBody>
      </p:sp>
      <p:sp>
        <p:nvSpPr>
          <p:cNvPr id="38" name="Rectangle 37"/>
          <p:cNvSpPr/>
          <p:nvPr/>
        </p:nvSpPr>
        <p:spPr>
          <a:xfrm>
            <a:off x="3626510" y="2459736"/>
            <a:ext cx="145023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17950" y="2459736"/>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Mid-Nov '26</a:t>
            </a:r>
          </a:p>
        </p:txBody>
      </p:sp>
      <p:sp>
        <p:nvSpPr>
          <p:cNvPr id="40" name="Rectangle 39"/>
          <p:cNvSpPr/>
          <p:nvPr/>
        </p:nvSpPr>
        <p:spPr>
          <a:xfrm>
            <a:off x="5076748" y="2459736"/>
            <a:ext cx="334670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68188" y="2459736"/>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Consulted on the clinical and scientific accuracy of the kinematic data shown in the mockups.</a:t>
            </a:r>
          </a:p>
        </p:txBody>
      </p:sp>
      <p:sp>
        <p:nvSpPr>
          <p:cNvPr id="42" name="Rectangle 41"/>
          <p:cNvSpPr/>
          <p:nvPr/>
        </p:nvSpPr>
        <p:spPr>
          <a:xfrm>
            <a:off x="8423452" y="2459736"/>
            <a:ext cx="323514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14892" y="2459736"/>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Tests intuitiveness of biofeedback for elderly patients and usefulness of the dashboard.</a:t>
            </a:r>
          </a:p>
        </p:txBody>
      </p:sp>
      <p:sp>
        <p:nvSpPr>
          <p:cNvPr id="44" name="Rectangle 43"/>
          <p:cNvSpPr/>
          <p:nvPr/>
        </p:nvSpPr>
        <p:spPr>
          <a:xfrm>
            <a:off x="502920" y="2843784"/>
            <a:ext cx="892454"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2843784"/>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T3.2</a:t>
            </a:r>
          </a:p>
        </p:txBody>
      </p:sp>
      <p:sp>
        <p:nvSpPr>
          <p:cNvPr id="46" name="Rectangle 45"/>
          <p:cNvSpPr/>
          <p:nvPr/>
        </p:nvSpPr>
        <p:spPr>
          <a:xfrm>
            <a:off x="1395374" y="2843784"/>
            <a:ext cx="2231136"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486814" y="2843784"/>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STS Dataset Acquisition</a:t>
            </a:r>
          </a:p>
        </p:txBody>
      </p:sp>
      <p:sp>
        <p:nvSpPr>
          <p:cNvPr id="48" name="Rectangle 47"/>
          <p:cNvSpPr/>
          <p:nvPr/>
        </p:nvSpPr>
        <p:spPr>
          <a:xfrm>
            <a:off x="3626510" y="2843784"/>
            <a:ext cx="145023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17950" y="2843784"/>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M9 to M15</a:t>
            </a:r>
          </a:p>
        </p:txBody>
      </p:sp>
      <p:sp>
        <p:nvSpPr>
          <p:cNvPr id="50" name="Rectangle 49"/>
          <p:cNvSpPr/>
          <p:nvPr/>
        </p:nvSpPr>
        <p:spPr>
          <a:xfrm>
            <a:off x="5076748" y="2843784"/>
            <a:ext cx="3346704"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68188" y="2843784"/>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Methodological supervision of the acquisition and DINOGMI-led ground-truth annotation.</a:t>
            </a:r>
          </a:p>
        </p:txBody>
      </p:sp>
      <p:sp>
        <p:nvSpPr>
          <p:cNvPr id="52" name="Rectangle 51"/>
          <p:cNvSpPr/>
          <p:nvPr/>
        </p:nvSpPr>
        <p:spPr>
          <a:xfrm>
            <a:off x="8423452" y="2843784"/>
            <a:ext cx="323514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14892" y="2843784"/>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Provides the clinical site, patients, and healthy volunteers for the recordings.</a:t>
            </a:r>
          </a:p>
        </p:txBody>
      </p:sp>
      <p:sp>
        <p:nvSpPr>
          <p:cNvPr id="54" name="Rectangle 53"/>
          <p:cNvSpPr/>
          <p:nvPr/>
        </p:nvSpPr>
        <p:spPr>
          <a:xfrm>
            <a:off x="502920" y="3227832"/>
            <a:ext cx="89245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3227832"/>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M5.1</a:t>
            </a:r>
          </a:p>
        </p:txBody>
      </p:sp>
      <p:sp>
        <p:nvSpPr>
          <p:cNvPr id="56" name="Rectangle 55"/>
          <p:cNvSpPr/>
          <p:nvPr/>
        </p:nvSpPr>
        <p:spPr>
          <a:xfrm>
            <a:off x="1395374" y="3227832"/>
            <a:ext cx="2231136"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486814" y="3227832"/>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Setup Startup (TRL6)</a:t>
            </a:r>
          </a:p>
        </p:txBody>
      </p:sp>
      <p:sp>
        <p:nvSpPr>
          <p:cNvPr id="58" name="Rectangle 57"/>
          <p:cNvSpPr/>
          <p:nvPr/>
        </p:nvSpPr>
        <p:spPr>
          <a:xfrm>
            <a:off x="3626510" y="3227832"/>
            <a:ext cx="145023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717950" y="3227832"/>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Mid-Sep '27</a:t>
            </a:r>
          </a:p>
        </p:txBody>
      </p:sp>
      <p:sp>
        <p:nvSpPr>
          <p:cNvPr id="60" name="Rectangle 59"/>
          <p:cNvSpPr/>
          <p:nvPr/>
        </p:nvSpPr>
        <p:spPr>
          <a:xfrm>
            <a:off x="5076748" y="3227832"/>
            <a:ext cx="334670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68188" y="3227832"/>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Methodological supervision of the setup to ensure the validity of the data in the environment.</a:t>
            </a:r>
          </a:p>
        </p:txBody>
      </p:sp>
      <p:sp>
        <p:nvSpPr>
          <p:cNvPr id="62" name="Rectangle 61"/>
          <p:cNvSpPr/>
          <p:nvPr/>
        </p:nvSpPr>
        <p:spPr>
          <a:xfrm>
            <a:off x="8423452" y="3227832"/>
            <a:ext cx="323514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514892" y="3227832"/>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Patient recruitment, consent management, and session management.</a:t>
            </a:r>
          </a:p>
        </p:txBody>
      </p:sp>
      <p:sp>
        <p:nvSpPr>
          <p:cNvPr id="64" name="Rectangle 63"/>
          <p:cNvSpPr/>
          <p:nvPr/>
        </p:nvSpPr>
        <p:spPr>
          <a:xfrm>
            <a:off x="502920" y="3611880"/>
            <a:ext cx="892454"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3611880"/>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T5.4</a:t>
            </a:r>
          </a:p>
        </p:txBody>
      </p:sp>
      <p:sp>
        <p:nvSpPr>
          <p:cNvPr id="66" name="Rectangle 65"/>
          <p:cNvSpPr/>
          <p:nvPr/>
        </p:nvSpPr>
        <p:spPr>
          <a:xfrm>
            <a:off x="1395374" y="3611880"/>
            <a:ext cx="2231136"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486814" y="3611880"/>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AI vs. Gold Std</a:t>
            </a:r>
          </a:p>
        </p:txBody>
      </p:sp>
      <p:sp>
        <p:nvSpPr>
          <p:cNvPr id="68" name="Rectangle 67"/>
          <p:cNvSpPr/>
          <p:nvPr/>
        </p:nvSpPr>
        <p:spPr>
          <a:xfrm>
            <a:off x="3626510" y="3611880"/>
            <a:ext cx="145023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17950" y="3611880"/>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Mid-Oct '27</a:t>
            </a:r>
          </a:p>
        </p:txBody>
      </p:sp>
      <p:sp>
        <p:nvSpPr>
          <p:cNvPr id="70" name="Rectangle 69"/>
          <p:cNvSpPr/>
          <p:nvPr/>
        </p:nvSpPr>
        <p:spPr>
          <a:xfrm>
            <a:off x="5076748" y="3611880"/>
            <a:ext cx="3346704"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68188" y="3611880"/>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Statistical comparison of ARISE measurements vs the REHELAB optoelectronic Gold Standard.</a:t>
            </a:r>
          </a:p>
        </p:txBody>
      </p:sp>
      <p:sp>
        <p:nvSpPr>
          <p:cNvPr id="72" name="Rectangle 71"/>
          <p:cNvSpPr/>
          <p:nvPr/>
        </p:nvSpPr>
        <p:spPr>
          <a:xfrm>
            <a:off x="8423452" y="3611880"/>
            <a:ext cx="3235147"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14892" y="3611880"/>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Provides field clinical logs to support and explain any detected anomalies.</a:t>
            </a:r>
          </a:p>
        </p:txBody>
      </p:sp>
      <p:sp>
        <p:nvSpPr>
          <p:cNvPr id="74" name="Rectangle 73"/>
          <p:cNvSpPr/>
          <p:nvPr/>
        </p:nvSpPr>
        <p:spPr>
          <a:xfrm>
            <a:off x="502920" y="3995928"/>
            <a:ext cx="89245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4360" y="3995928"/>
            <a:ext cx="709574" cy="384048"/>
          </a:xfrm>
          <a:prstGeom prst="rect">
            <a:avLst/>
          </a:prstGeom>
          <a:noFill/>
        </p:spPr>
        <p:txBody>
          <a:bodyPr wrap="square" anchor="ctr" lIns="36576" rIns="36576" tIns="18288" bIns="18288">
            <a:spAutoFit/>
          </a:bodyPr>
          <a:lstStyle/>
          <a:p>
            <a:pPr algn="l"/>
            <a:r>
              <a:rPr sz="900" b="0" i="0">
                <a:solidFill>
                  <a:srgbClr val="0F1C2E"/>
                </a:solidFill>
                <a:latin typeface="Calibri"/>
              </a:rPr>
              <a:t>D5.1</a:t>
            </a:r>
          </a:p>
        </p:txBody>
      </p:sp>
      <p:sp>
        <p:nvSpPr>
          <p:cNvPr id="76" name="Rectangle 75"/>
          <p:cNvSpPr/>
          <p:nvPr/>
        </p:nvSpPr>
        <p:spPr>
          <a:xfrm>
            <a:off x="1395374" y="3995928"/>
            <a:ext cx="2231136"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486814" y="3995928"/>
            <a:ext cx="2048256" cy="384048"/>
          </a:xfrm>
          <a:prstGeom prst="rect">
            <a:avLst/>
          </a:prstGeom>
          <a:noFill/>
        </p:spPr>
        <p:txBody>
          <a:bodyPr wrap="square" anchor="ctr" lIns="36576" rIns="36576" tIns="18288" bIns="18288">
            <a:spAutoFit/>
          </a:bodyPr>
          <a:lstStyle/>
          <a:p>
            <a:pPr algn="l"/>
            <a:r>
              <a:rPr sz="900" b="0" i="0">
                <a:solidFill>
                  <a:srgbClr val="0F1C2E"/>
                </a:solidFill>
                <a:latin typeface="Calibri"/>
              </a:rPr>
              <a:t>TRL6 Final Report</a:t>
            </a:r>
          </a:p>
        </p:txBody>
      </p:sp>
      <p:sp>
        <p:nvSpPr>
          <p:cNvPr id="78" name="Rectangle 77"/>
          <p:cNvSpPr/>
          <p:nvPr/>
        </p:nvSpPr>
        <p:spPr>
          <a:xfrm>
            <a:off x="3626510" y="3995928"/>
            <a:ext cx="145023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17950" y="3995928"/>
            <a:ext cx="1267358" cy="384048"/>
          </a:xfrm>
          <a:prstGeom prst="rect">
            <a:avLst/>
          </a:prstGeom>
          <a:noFill/>
        </p:spPr>
        <p:txBody>
          <a:bodyPr wrap="square" anchor="ctr" lIns="36576" rIns="36576" tIns="18288" bIns="18288">
            <a:spAutoFit/>
          </a:bodyPr>
          <a:lstStyle/>
          <a:p>
            <a:pPr algn="l"/>
            <a:r>
              <a:rPr sz="900" b="0" i="0">
                <a:solidFill>
                  <a:srgbClr val="0F1C2E"/>
                </a:solidFill>
                <a:latin typeface="Calibri"/>
              </a:rPr>
              <a:t>18 Dec '27</a:t>
            </a:r>
          </a:p>
        </p:txBody>
      </p:sp>
      <p:sp>
        <p:nvSpPr>
          <p:cNvPr id="80" name="Rectangle 79"/>
          <p:cNvSpPr/>
          <p:nvPr/>
        </p:nvSpPr>
        <p:spPr>
          <a:xfrm>
            <a:off x="5076748" y="3995928"/>
            <a:ext cx="3346704"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168188" y="3995928"/>
            <a:ext cx="3163824" cy="384048"/>
          </a:xfrm>
          <a:prstGeom prst="rect">
            <a:avLst/>
          </a:prstGeom>
          <a:noFill/>
        </p:spPr>
        <p:txBody>
          <a:bodyPr wrap="square" anchor="ctr" lIns="36576" rIns="36576" tIns="18288" bIns="18288">
            <a:spAutoFit/>
          </a:bodyPr>
          <a:lstStyle/>
          <a:p>
            <a:pPr algn="l"/>
            <a:r>
              <a:rPr sz="900" b="0" i="0">
                <a:solidFill>
                  <a:srgbClr val="0F1C2E"/>
                </a:solidFill>
                <a:latin typeface="Calibri"/>
              </a:rPr>
              <a:t>Final scientific validation, statistical analysis, academic paper writing.</a:t>
            </a:r>
          </a:p>
        </p:txBody>
      </p:sp>
      <p:sp>
        <p:nvSpPr>
          <p:cNvPr id="82" name="Rectangle 81"/>
          <p:cNvSpPr/>
          <p:nvPr/>
        </p:nvSpPr>
        <p:spPr>
          <a:xfrm>
            <a:off x="8423452" y="3995928"/>
            <a:ext cx="3235147"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514892" y="3995928"/>
            <a:ext cx="3052267" cy="384048"/>
          </a:xfrm>
          <a:prstGeom prst="rect">
            <a:avLst/>
          </a:prstGeom>
          <a:noFill/>
        </p:spPr>
        <p:txBody>
          <a:bodyPr wrap="square" anchor="ctr" lIns="36576" rIns="36576" tIns="18288" bIns="18288">
            <a:spAutoFit/>
          </a:bodyPr>
          <a:lstStyle/>
          <a:p>
            <a:pPr algn="l"/>
            <a:r>
              <a:rPr sz="900" b="0" i="0">
                <a:solidFill>
                  <a:srgbClr val="0F1C2E"/>
                </a:solidFill>
                <a:latin typeface="Calibri"/>
              </a:rPr>
              <a:t>Data on patient adherence, practical usability, impact on workload.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RACI Matrix of Clinical Activities and Validation</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280160"/>
            <a:ext cx="1004011"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80160"/>
            <a:ext cx="821131" cy="411480"/>
          </a:xfrm>
          <a:prstGeom prst="rect">
            <a:avLst/>
          </a:prstGeom>
          <a:noFill/>
        </p:spPr>
        <p:txBody>
          <a:bodyPr wrap="square" anchor="ctr" lIns="36576" rIns="36576" tIns="18288" bIns="18288">
            <a:spAutoFit/>
          </a:bodyPr>
          <a:lstStyle/>
          <a:p>
            <a:pPr algn="l"/>
            <a:r>
              <a:rPr sz="1100" b="1" i="0">
                <a:solidFill>
                  <a:srgbClr val="FFFFFF"/>
                </a:solidFill>
                <a:latin typeface="Calibri"/>
              </a:rPr>
              <a:t>ID</a:t>
            </a:r>
          </a:p>
        </p:txBody>
      </p:sp>
      <p:sp>
        <p:nvSpPr>
          <p:cNvPr id="6" name="Rectangle 5"/>
          <p:cNvSpPr/>
          <p:nvPr/>
        </p:nvSpPr>
        <p:spPr>
          <a:xfrm>
            <a:off x="1506931" y="1280160"/>
            <a:ext cx="4796942"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98371" y="1280160"/>
            <a:ext cx="4614062" cy="411480"/>
          </a:xfrm>
          <a:prstGeom prst="rect">
            <a:avLst/>
          </a:prstGeom>
          <a:noFill/>
        </p:spPr>
        <p:txBody>
          <a:bodyPr wrap="square" anchor="ctr" lIns="36576" rIns="36576" tIns="18288" bIns="18288">
            <a:spAutoFit/>
          </a:bodyPr>
          <a:lstStyle/>
          <a:p>
            <a:pPr algn="l"/>
            <a:r>
              <a:rPr sz="1100" b="1" i="0">
                <a:solidFill>
                  <a:srgbClr val="FFFFFF"/>
                </a:solidFill>
                <a:latin typeface="Calibri"/>
              </a:rPr>
              <a:t>Deliverable / Activity</a:t>
            </a:r>
          </a:p>
        </p:txBody>
      </p:sp>
      <p:sp>
        <p:nvSpPr>
          <p:cNvPr id="8" name="Rectangle 7"/>
          <p:cNvSpPr/>
          <p:nvPr/>
        </p:nvSpPr>
        <p:spPr>
          <a:xfrm>
            <a:off x="6303873" y="1280160"/>
            <a:ext cx="1784908"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95313" y="1280160"/>
            <a:ext cx="1602028" cy="411480"/>
          </a:xfrm>
          <a:prstGeom prst="rect">
            <a:avLst/>
          </a:prstGeom>
          <a:noFill/>
        </p:spPr>
        <p:txBody>
          <a:bodyPr wrap="square" anchor="ctr" lIns="36576" rIns="36576" tIns="18288" bIns="18288">
            <a:spAutoFit/>
          </a:bodyPr>
          <a:lstStyle/>
          <a:p>
            <a:pPr algn="l"/>
            <a:r>
              <a:rPr sz="1100" b="1" i="0">
                <a:solidFill>
                  <a:srgbClr val="FFFFFF"/>
                </a:solidFill>
                <a:latin typeface="Calibri"/>
              </a:rPr>
              <a:t>Innovina S.r.l.</a:t>
            </a:r>
          </a:p>
        </p:txBody>
      </p:sp>
      <p:sp>
        <p:nvSpPr>
          <p:cNvPr id="10" name="Rectangle 9"/>
          <p:cNvSpPr/>
          <p:nvPr/>
        </p:nvSpPr>
        <p:spPr>
          <a:xfrm>
            <a:off x="8088781" y="1280160"/>
            <a:ext cx="1784908"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0221" y="1280160"/>
            <a:ext cx="1602028" cy="411480"/>
          </a:xfrm>
          <a:prstGeom prst="rect">
            <a:avLst/>
          </a:prstGeom>
          <a:noFill/>
        </p:spPr>
        <p:txBody>
          <a:bodyPr wrap="square" anchor="ctr" lIns="36576" rIns="36576" tIns="18288" bIns="18288">
            <a:spAutoFit/>
          </a:bodyPr>
          <a:lstStyle/>
          <a:p>
            <a:pPr algn="l"/>
            <a:r>
              <a:rPr sz="1100" b="1" i="0">
                <a:solidFill>
                  <a:srgbClr val="FFFFFF"/>
                </a:solidFill>
                <a:latin typeface="Calibri"/>
              </a:rPr>
              <a:t>UniGe (DINOGMI)</a:t>
            </a:r>
          </a:p>
        </p:txBody>
      </p:sp>
      <p:sp>
        <p:nvSpPr>
          <p:cNvPr id="12" name="Rectangle 11"/>
          <p:cNvSpPr/>
          <p:nvPr/>
        </p:nvSpPr>
        <p:spPr>
          <a:xfrm>
            <a:off x="9873689" y="1280160"/>
            <a:ext cx="1784908" cy="411480"/>
          </a:xfrm>
          <a:prstGeom prst="rect">
            <a:avLst/>
          </a:prstGeom>
          <a:solidFill>
            <a:srgbClr val="122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5129" y="1280160"/>
            <a:ext cx="1602028" cy="411480"/>
          </a:xfrm>
          <a:prstGeom prst="rect">
            <a:avLst/>
          </a:prstGeom>
          <a:noFill/>
        </p:spPr>
        <p:txBody>
          <a:bodyPr wrap="square" anchor="ctr" lIns="36576" rIns="36576" tIns="18288" bIns="18288">
            <a:spAutoFit/>
          </a:bodyPr>
          <a:lstStyle/>
          <a:p>
            <a:pPr algn="l"/>
            <a:r>
              <a:rPr sz="1100" b="1" i="0">
                <a:solidFill>
                  <a:srgbClr val="FFFFFF"/>
                </a:solidFill>
                <a:latin typeface="Calibri"/>
              </a:rPr>
              <a:t>Studio Buccarella</a:t>
            </a:r>
          </a:p>
        </p:txBody>
      </p:sp>
      <p:sp>
        <p:nvSpPr>
          <p:cNvPr id="14" name="Rectangle 13"/>
          <p:cNvSpPr/>
          <p:nvPr/>
        </p:nvSpPr>
        <p:spPr>
          <a:xfrm>
            <a:off x="502920" y="1691640"/>
            <a:ext cx="1004011"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1691640"/>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Clinical Requirements and Biomechanical KPIs</a:t>
            </a:r>
          </a:p>
        </p:txBody>
      </p:sp>
      <p:sp>
        <p:nvSpPr>
          <p:cNvPr id="16" name="Rectangle 15"/>
          <p:cNvSpPr/>
          <p:nvPr/>
        </p:nvSpPr>
        <p:spPr>
          <a:xfrm>
            <a:off x="1506931" y="1691640"/>
            <a:ext cx="4796942"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98371" y="1691640"/>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18" name="Rectangle 17"/>
          <p:cNvSpPr/>
          <p:nvPr/>
        </p:nvSpPr>
        <p:spPr>
          <a:xfrm>
            <a:off x="6303873" y="1691640"/>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5313" y="1691640"/>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20" name="Rectangle 19"/>
          <p:cNvSpPr/>
          <p:nvPr/>
        </p:nvSpPr>
        <p:spPr>
          <a:xfrm>
            <a:off x="8088781" y="1691640"/>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0221" y="1691640"/>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22" name="Rectangle 21"/>
          <p:cNvSpPr/>
          <p:nvPr/>
        </p:nvSpPr>
        <p:spPr>
          <a:xfrm>
            <a:off x="502920" y="2075688"/>
            <a:ext cx="1004011"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075688"/>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Protocol and Submission to the Ethics Committee</a:t>
            </a:r>
          </a:p>
        </p:txBody>
      </p:sp>
      <p:sp>
        <p:nvSpPr>
          <p:cNvPr id="24" name="Rectangle 23"/>
          <p:cNvSpPr/>
          <p:nvPr/>
        </p:nvSpPr>
        <p:spPr>
          <a:xfrm>
            <a:off x="1506931" y="2075688"/>
            <a:ext cx="4796942"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98371" y="2075688"/>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26" name="Rectangle 25"/>
          <p:cNvSpPr/>
          <p:nvPr/>
        </p:nvSpPr>
        <p:spPr>
          <a:xfrm>
            <a:off x="6303873" y="2075688"/>
            <a:ext cx="178490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5313" y="2075688"/>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28" name="Rectangle 27"/>
          <p:cNvSpPr/>
          <p:nvPr/>
        </p:nvSpPr>
        <p:spPr>
          <a:xfrm>
            <a:off x="8088781" y="2075688"/>
            <a:ext cx="178490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0221" y="2075688"/>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30" name="Rectangle 29"/>
          <p:cNvSpPr/>
          <p:nvPr/>
        </p:nvSpPr>
        <p:spPr>
          <a:xfrm>
            <a:off x="502920" y="2459736"/>
            <a:ext cx="1004011"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459736"/>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Feedback UI/UX (Mockup Coach &amp; Dashboard)</a:t>
            </a:r>
          </a:p>
        </p:txBody>
      </p:sp>
      <p:sp>
        <p:nvSpPr>
          <p:cNvPr id="32" name="Rectangle 31"/>
          <p:cNvSpPr/>
          <p:nvPr/>
        </p:nvSpPr>
        <p:spPr>
          <a:xfrm>
            <a:off x="1506931" y="2459736"/>
            <a:ext cx="4796942"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98371" y="2459736"/>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34" name="Rectangle 33"/>
          <p:cNvSpPr/>
          <p:nvPr/>
        </p:nvSpPr>
        <p:spPr>
          <a:xfrm>
            <a:off x="6303873" y="2459736"/>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95313" y="2459736"/>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36" name="Rectangle 35"/>
          <p:cNvSpPr/>
          <p:nvPr/>
        </p:nvSpPr>
        <p:spPr>
          <a:xfrm>
            <a:off x="8088781" y="2459736"/>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80221" y="2459736"/>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38" name="Rectangle 37"/>
          <p:cNvSpPr/>
          <p:nvPr/>
        </p:nvSpPr>
        <p:spPr>
          <a:xfrm>
            <a:off x="502920" y="2843784"/>
            <a:ext cx="1004011"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2843784"/>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STS Dataset Acquisition and Annotation</a:t>
            </a:r>
          </a:p>
        </p:txBody>
      </p:sp>
      <p:sp>
        <p:nvSpPr>
          <p:cNvPr id="40" name="Rectangle 39"/>
          <p:cNvSpPr/>
          <p:nvPr/>
        </p:nvSpPr>
        <p:spPr>
          <a:xfrm>
            <a:off x="1506931" y="2843784"/>
            <a:ext cx="4796942"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98371" y="2843784"/>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42" name="Rectangle 41"/>
          <p:cNvSpPr/>
          <p:nvPr/>
        </p:nvSpPr>
        <p:spPr>
          <a:xfrm>
            <a:off x="6303873" y="2843784"/>
            <a:ext cx="178490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5313" y="2843784"/>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44" name="Rectangle 43"/>
          <p:cNvSpPr/>
          <p:nvPr/>
        </p:nvSpPr>
        <p:spPr>
          <a:xfrm>
            <a:off x="8088781" y="2843784"/>
            <a:ext cx="178490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80221" y="2843784"/>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46" name="Rectangle 45"/>
          <p:cNvSpPr/>
          <p:nvPr/>
        </p:nvSpPr>
        <p:spPr>
          <a:xfrm>
            <a:off x="502920" y="3227832"/>
            <a:ext cx="1004011"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3227832"/>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Patient Trial Setup and Startup (TRL6)</a:t>
            </a:r>
          </a:p>
        </p:txBody>
      </p:sp>
      <p:sp>
        <p:nvSpPr>
          <p:cNvPr id="48" name="Rectangle 47"/>
          <p:cNvSpPr/>
          <p:nvPr/>
        </p:nvSpPr>
        <p:spPr>
          <a:xfrm>
            <a:off x="1506931" y="3227832"/>
            <a:ext cx="4796942"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98371" y="3227832"/>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50" name="Rectangle 49"/>
          <p:cNvSpPr/>
          <p:nvPr/>
        </p:nvSpPr>
        <p:spPr>
          <a:xfrm>
            <a:off x="6303873" y="3227832"/>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95313" y="3227832"/>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52" name="Rectangle 51"/>
          <p:cNvSpPr/>
          <p:nvPr/>
        </p:nvSpPr>
        <p:spPr>
          <a:xfrm>
            <a:off x="8088781" y="3227832"/>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0221" y="3227832"/>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54" name="Rectangle 53"/>
          <p:cNvSpPr/>
          <p:nvPr/>
        </p:nvSpPr>
        <p:spPr>
          <a:xfrm>
            <a:off x="502920" y="3611880"/>
            <a:ext cx="1004011"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3611880"/>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AI Data Comparison vs. Gold Standard</a:t>
            </a:r>
          </a:p>
        </p:txBody>
      </p:sp>
      <p:sp>
        <p:nvSpPr>
          <p:cNvPr id="56" name="Rectangle 55"/>
          <p:cNvSpPr/>
          <p:nvPr/>
        </p:nvSpPr>
        <p:spPr>
          <a:xfrm>
            <a:off x="1506931" y="3611880"/>
            <a:ext cx="4796942"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98371" y="3611880"/>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58" name="Rectangle 57"/>
          <p:cNvSpPr/>
          <p:nvPr/>
        </p:nvSpPr>
        <p:spPr>
          <a:xfrm>
            <a:off x="6303873" y="3611880"/>
            <a:ext cx="178490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95313" y="3611880"/>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60" name="Rectangle 59"/>
          <p:cNvSpPr/>
          <p:nvPr/>
        </p:nvSpPr>
        <p:spPr>
          <a:xfrm>
            <a:off x="8088781" y="3611880"/>
            <a:ext cx="1784908" cy="384048"/>
          </a:xfrm>
          <a:prstGeom prst="rect">
            <a:avLst/>
          </a:prstGeom>
          <a:solidFill>
            <a:srgbClr val="FFFFFF"/>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80221" y="3611880"/>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62" name="Rectangle 61"/>
          <p:cNvSpPr/>
          <p:nvPr/>
        </p:nvSpPr>
        <p:spPr>
          <a:xfrm>
            <a:off x="502920" y="3995928"/>
            <a:ext cx="1004011"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3995928"/>
            <a:ext cx="821131" cy="384048"/>
          </a:xfrm>
          <a:prstGeom prst="rect">
            <a:avLst/>
          </a:prstGeom>
          <a:noFill/>
        </p:spPr>
        <p:txBody>
          <a:bodyPr wrap="square" anchor="ctr" lIns="36576" rIns="36576" tIns="18288" bIns="18288">
            <a:spAutoFit/>
          </a:bodyPr>
          <a:lstStyle/>
          <a:p>
            <a:pPr algn="l"/>
            <a:r>
              <a:rPr sz="1000" b="0" i="0">
                <a:solidFill>
                  <a:srgbClr val="0F1C2E"/>
                </a:solidFill>
                <a:latin typeface="Calibri"/>
              </a:rPr>
              <a:t>TRL6 Final Validation Report</a:t>
            </a:r>
          </a:p>
        </p:txBody>
      </p:sp>
      <p:sp>
        <p:nvSpPr>
          <p:cNvPr id="64" name="Rectangle 63"/>
          <p:cNvSpPr/>
          <p:nvPr/>
        </p:nvSpPr>
        <p:spPr>
          <a:xfrm>
            <a:off x="1506931" y="3995928"/>
            <a:ext cx="4796942"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98371" y="3995928"/>
            <a:ext cx="4614062"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66" name="Rectangle 65"/>
          <p:cNvSpPr/>
          <p:nvPr/>
        </p:nvSpPr>
        <p:spPr>
          <a:xfrm>
            <a:off x="6303873" y="3995928"/>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95313" y="3995928"/>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68" name="Rectangle 67"/>
          <p:cNvSpPr/>
          <p:nvPr/>
        </p:nvSpPr>
        <p:spPr>
          <a:xfrm>
            <a:off x="8088781" y="3995928"/>
            <a:ext cx="1784908" cy="384048"/>
          </a:xfrm>
          <a:prstGeom prst="rect">
            <a:avLst/>
          </a:prstGeom>
          <a:solidFill>
            <a:srgbClr val="F4F6F9"/>
          </a:solidFill>
          <a:ln w="3175">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80221" y="3995928"/>
            <a:ext cx="1602028" cy="384048"/>
          </a:xfrm>
          <a:prstGeom prst="rect">
            <a:avLst/>
          </a:prstGeom>
          <a:noFill/>
        </p:spPr>
        <p:txBody>
          <a:bodyPr wrap="square" anchor="ctr" lIns="36576" rIns="36576" tIns="18288" bIns="18288">
            <a:spAutoFit/>
          </a:bodyPr>
          <a:lstStyle/>
          <a:p>
            <a:pPr algn="l"/>
            <a:r>
              <a:rPr sz="1000" b="0" i="0">
                <a:solidFill>
                  <a:srgbClr val="0F1C2E"/>
                </a:solidFill>
                <a:latin typeface="Calibri"/>
              </a:rPr>
              <a:t/>
            </a:r>
          </a:p>
        </p:txBody>
      </p:sp>
      <p:sp>
        <p:nvSpPr>
          <p:cNvPr id="70" name="Rounded Rectangle 69"/>
          <p:cNvSpPr/>
          <p:nvPr/>
        </p:nvSpPr>
        <p:spPr>
          <a:xfrm>
            <a:off x="594360" y="1737360"/>
            <a:ext cx="64008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94360" y="1737360"/>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D1.1</a:t>
            </a:r>
          </a:p>
        </p:txBody>
      </p:sp>
      <p:sp>
        <p:nvSpPr>
          <p:cNvPr id="72" name="Rounded Rectangle 71"/>
          <p:cNvSpPr/>
          <p:nvPr/>
        </p:nvSpPr>
        <p:spPr>
          <a:xfrm>
            <a:off x="6944868" y="1737360"/>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44868" y="1737360"/>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a:t>
            </a:r>
          </a:p>
        </p:txBody>
      </p:sp>
      <p:sp>
        <p:nvSpPr>
          <p:cNvPr id="74" name="Rounded Rectangle 73"/>
          <p:cNvSpPr/>
          <p:nvPr/>
        </p:nvSpPr>
        <p:spPr>
          <a:xfrm>
            <a:off x="8729776" y="1737360"/>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29776" y="1737360"/>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76" name="Rounded Rectangle 75"/>
          <p:cNvSpPr/>
          <p:nvPr/>
        </p:nvSpPr>
        <p:spPr>
          <a:xfrm>
            <a:off x="10514685" y="1737360"/>
            <a:ext cx="502920" cy="292608"/>
          </a:xfrm>
          <a:prstGeom prst="roundRect">
            <a:avLst>
              <a:gd name="adj" fmla="val 30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514685" y="1737360"/>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C</a:t>
            </a:r>
          </a:p>
        </p:txBody>
      </p:sp>
      <p:sp>
        <p:nvSpPr>
          <p:cNvPr id="78" name="Rounded Rectangle 77"/>
          <p:cNvSpPr/>
          <p:nvPr/>
        </p:nvSpPr>
        <p:spPr>
          <a:xfrm>
            <a:off x="594360" y="2121408"/>
            <a:ext cx="64008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4360" y="2121408"/>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D1.2</a:t>
            </a:r>
          </a:p>
        </p:txBody>
      </p:sp>
      <p:sp>
        <p:nvSpPr>
          <p:cNvPr id="80" name="Rounded Rectangle 79"/>
          <p:cNvSpPr/>
          <p:nvPr/>
        </p:nvSpPr>
        <p:spPr>
          <a:xfrm>
            <a:off x="6944868" y="2121408"/>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944868" y="2121408"/>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a:t>
            </a:r>
          </a:p>
        </p:txBody>
      </p:sp>
      <p:sp>
        <p:nvSpPr>
          <p:cNvPr id="82" name="Rounded Rectangle 81"/>
          <p:cNvSpPr/>
          <p:nvPr/>
        </p:nvSpPr>
        <p:spPr>
          <a:xfrm>
            <a:off x="8729776" y="2121408"/>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729776" y="2121408"/>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84" name="Rounded Rectangle 83"/>
          <p:cNvSpPr/>
          <p:nvPr/>
        </p:nvSpPr>
        <p:spPr>
          <a:xfrm>
            <a:off x="10514685" y="2121408"/>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514685" y="2121408"/>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86" name="Rounded Rectangle 85"/>
          <p:cNvSpPr/>
          <p:nvPr/>
        </p:nvSpPr>
        <p:spPr>
          <a:xfrm>
            <a:off x="594360" y="2505456"/>
            <a:ext cx="64008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94360" y="2505456"/>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D2.1</a:t>
            </a:r>
          </a:p>
        </p:txBody>
      </p:sp>
      <p:sp>
        <p:nvSpPr>
          <p:cNvPr id="88" name="Rounded Rectangle 87"/>
          <p:cNvSpPr/>
          <p:nvPr/>
        </p:nvSpPr>
        <p:spPr>
          <a:xfrm>
            <a:off x="6944868" y="2505456"/>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944868" y="2505456"/>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A/R</a:t>
            </a:r>
          </a:p>
        </p:txBody>
      </p:sp>
      <p:sp>
        <p:nvSpPr>
          <p:cNvPr id="90" name="Rounded Rectangle 89"/>
          <p:cNvSpPr/>
          <p:nvPr/>
        </p:nvSpPr>
        <p:spPr>
          <a:xfrm>
            <a:off x="8729776" y="2505456"/>
            <a:ext cx="502920" cy="292608"/>
          </a:xfrm>
          <a:prstGeom prst="roundRect">
            <a:avLst>
              <a:gd name="adj" fmla="val 30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729776" y="2505456"/>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C</a:t>
            </a:r>
          </a:p>
        </p:txBody>
      </p:sp>
      <p:sp>
        <p:nvSpPr>
          <p:cNvPr id="92" name="Rounded Rectangle 91"/>
          <p:cNvSpPr/>
          <p:nvPr/>
        </p:nvSpPr>
        <p:spPr>
          <a:xfrm>
            <a:off x="10514685" y="2505456"/>
            <a:ext cx="502920" cy="292608"/>
          </a:xfrm>
          <a:prstGeom prst="roundRect">
            <a:avLst>
              <a:gd name="adj" fmla="val 30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514685" y="2505456"/>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C</a:t>
            </a:r>
          </a:p>
        </p:txBody>
      </p:sp>
      <p:sp>
        <p:nvSpPr>
          <p:cNvPr id="94" name="Rounded Rectangle 93"/>
          <p:cNvSpPr/>
          <p:nvPr/>
        </p:nvSpPr>
        <p:spPr>
          <a:xfrm>
            <a:off x="594360" y="2889504"/>
            <a:ext cx="640080" cy="292608"/>
          </a:xfrm>
          <a:prstGeom prst="roundRect">
            <a:avLst>
              <a:gd name="adj" fmla="val 30000"/>
            </a:avLst>
          </a:prstGeom>
          <a:solidFill>
            <a:srgbClr val="47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4360" y="2889504"/>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T3.2</a:t>
            </a:r>
          </a:p>
        </p:txBody>
      </p:sp>
      <p:sp>
        <p:nvSpPr>
          <p:cNvPr id="96" name="Rounded Rectangle 95"/>
          <p:cNvSpPr/>
          <p:nvPr/>
        </p:nvSpPr>
        <p:spPr>
          <a:xfrm>
            <a:off x="6944868" y="2889504"/>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944868" y="2889504"/>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a:t>
            </a:r>
          </a:p>
        </p:txBody>
      </p:sp>
      <p:sp>
        <p:nvSpPr>
          <p:cNvPr id="98" name="Rounded Rectangle 97"/>
          <p:cNvSpPr/>
          <p:nvPr/>
        </p:nvSpPr>
        <p:spPr>
          <a:xfrm>
            <a:off x="8729776" y="2889504"/>
            <a:ext cx="502920" cy="292608"/>
          </a:xfrm>
          <a:prstGeom prst="roundRect">
            <a:avLst>
              <a:gd name="adj" fmla="val 30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729776" y="2889504"/>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C</a:t>
            </a:r>
          </a:p>
        </p:txBody>
      </p:sp>
      <p:sp>
        <p:nvSpPr>
          <p:cNvPr id="100" name="Rounded Rectangle 99"/>
          <p:cNvSpPr/>
          <p:nvPr/>
        </p:nvSpPr>
        <p:spPr>
          <a:xfrm>
            <a:off x="10514685" y="2889504"/>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514685" y="2889504"/>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02" name="Rounded Rectangle 101"/>
          <p:cNvSpPr/>
          <p:nvPr/>
        </p:nvSpPr>
        <p:spPr>
          <a:xfrm>
            <a:off x="594360" y="3273552"/>
            <a:ext cx="64008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94360" y="3273552"/>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M5.1</a:t>
            </a:r>
          </a:p>
        </p:txBody>
      </p:sp>
      <p:sp>
        <p:nvSpPr>
          <p:cNvPr id="104" name="Rounded Rectangle 103"/>
          <p:cNvSpPr/>
          <p:nvPr/>
        </p:nvSpPr>
        <p:spPr>
          <a:xfrm>
            <a:off x="6944868" y="3273552"/>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944868" y="3273552"/>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a:t>
            </a:r>
          </a:p>
        </p:txBody>
      </p:sp>
      <p:sp>
        <p:nvSpPr>
          <p:cNvPr id="106" name="Rounded Rectangle 105"/>
          <p:cNvSpPr/>
          <p:nvPr/>
        </p:nvSpPr>
        <p:spPr>
          <a:xfrm>
            <a:off x="8729776" y="3273552"/>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729776" y="3273552"/>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08" name="Rounded Rectangle 107"/>
          <p:cNvSpPr/>
          <p:nvPr/>
        </p:nvSpPr>
        <p:spPr>
          <a:xfrm>
            <a:off x="10514685" y="3273552"/>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514685" y="3273552"/>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10" name="Rounded Rectangle 109"/>
          <p:cNvSpPr/>
          <p:nvPr/>
        </p:nvSpPr>
        <p:spPr>
          <a:xfrm>
            <a:off x="594360" y="3657600"/>
            <a:ext cx="640080" cy="292608"/>
          </a:xfrm>
          <a:prstGeom prst="roundRect">
            <a:avLst>
              <a:gd name="adj" fmla="val 30000"/>
            </a:avLst>
          </a:prstGeom>
          <a:solidFill>
            <a:srgbClr val="475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94360" y="3657600"/>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T5.4</a:t>
            </a:r>
          </a:p>
        </p:txBody>
      </p:sp>
      <p:sp>
        <p:nvSpPr>
          <p:cNvPr id="112" name="Rounded Rectangle 111"/>
          <p:cNvSpPr/>
          <p:nvPr/>
        </p:nvSpPr>
        <p:spPr>
          <a:xfrm>
            <a:off x="6944868" y="3657600"/>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944868" y="3657600"/>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a:t>
            </a:r>
          </a:p>
        </p:txBody>
      </p:sp>
      <p:sp>
        <p:nvSpPr>
          <p:cNvPr id="114" name="Rounded Rectangle 113"/>
          <p:cNvSpPr/>
          <p:nvPr/>
        </p:nvSpPr>
        <p:spPr>
          <a:xfrm>
            <a:off x="8729776" y="3657600"/>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729776" y="3657600"/>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16" name="Rounded Rectangle 115"/>
          <p:cNvSpPr/>
          <p:nvPr/>
        </p:nvSpPr>
        <p:spPr>
          <a:xfrm>
            <a:off x="10514685" y="3657600"/>
            <a:ext cx="502920" cy="292608"/>
          </a:xfrm>
          <a:prstGeom prst="roundRect">
            <a:avLst>
              <a:gd name="adj" fmla="val 30000"/>
            </a:avLst>
          </a:prstGeom>
          <a:solidFill>
            <a:srgbClr val="55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0514685" y="3657600"/>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I</a:t>
            </a:r>
          </a:p>
        </p:txBody>
      </p:sp>
      <p:sp>
        <p:nvSpPr>
          <p:cNvPr id="118" name="Rounded Rectangle 117"/>
          <p:cNvSpPr/>
          <p:nvPr/>
        </p:nvSpPr>
        <p:spPr>
          <a:xfrm>
            <a:off x="594360" y="4041648"/>
            <a:ext cx="640080" cy="292608"/>
          </a:xfrm>
          <a:prstGeom prst="roundRect">
            <a:avLst>
              <a:gd name="adj" fmla="val 30000"/>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94360" y="4041648"/>
            <a:ext cx="64008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D5.1</a:t>
            </a:r>
          </a:p>
        </p:txBody>
      </p:sp>
      <p:sp>
        <p:nvSpPr>
          <p:cNvPr id="120" name="Rounded Rectangle 119"/>
          <p:cNvSpPr/>
          <p:nvPr/>
        </p:nvSpPr>
        <p:spPr>
          <a:xfrm>
            <a:off x="6944868" y="4041648"/>
            <a:ext cx="502920" cy="292608"/>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944868" y="4041648"/>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A/R</a:t>
            </a:r>
          </a:p>
        </p:txBody>
      </p:sp>
      <p:sp>
        <p:nvSpPr>
          <p:cNvPr id="122" name="Rounded Rectangle 121"/>
          <p:cNvSpPr/>
          <p:nvPr/>
        </p:nvSpPr>
        <p:spPr>
          <a:xfrm>
            <a:off x="8729776" y="4041648"/>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729776" y="4041648"/>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24" name="Rounded Rectangle 123"/>
          <p:cNvSpPr/>
          <p:nvPr/>
        </p:nvSpPr>
        <p:spPr>
          <a:xfrm>
            <a:off x="10514685" y="4041648"/>
            <a:ext cx="502920" cy="292608"/>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0514685" y="4041648"/>
            <a:ext cx="502920" cy="292608"/>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26" name="Rounded Rectangle 125"/>
          <p:cNvSpPr/>
          <p:nvPr/>
        </p:nvSpPr>
        <p:spPr>
          <a:xfrm>
            <a:off x="502920" y="5486400"/>
            <a:ext cx="11155680" cy="73152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685800" y="5650992"/>
            <a:ext cx="365760" cy="365760"/>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85800" y="5650992"/>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R</a:t>
            </a:r>
          </a:p>
        </p:txBody>
      </p:sp>
      <p:sp>
        <p:nvSpPr>
          <p:cNvPr id="129" name="TextBox 128"/>
          <p:cNvSpPr txBox="1"/>
          <p:nvPr/>
        </p:nvSpPr>
        <p:spPr>
          <a:xfrm>
            <a:off x="1188720" y="5605272"/>
            <a:ext cx="2057400" cy="548640"/>
          </a:xfrm>
          <a:prstGeom prst="rect">
            <a:avLst/>
          </a:prstGeom>
          <a:noFill/>
        </p:spPr>
        <p:txBody>
          <a:bodyPr wrap="square" anchor="ctr" lIns="36576" rIns="36576" tIns="18288" bIns="18288">
            <a:spAutoFit/>
          </a:bodyPr>
          <a:lstStyle/>
          <a:p>
            <a:pPr algn="l"/>
            <a:r>
              <a:rPr sz="900" b="0" i="0">
                <a:solidFill>
                  <a:srgbClr val="0F1C2E"/>
                </a:solidFill>
                <a:latin typeface="Calibri"/>
              </a:rPr>
              <a:t>Responsible — physically carries out the work</a:t>
            </a:r>
          </a:p>
        </p:txBody>
      </p:sp>
      <p:sp>
        <p:nvSpPr>
          <p:cNvPr id="130" name="Rounded Rectangle 129"/>
          <p:cNvSpPr/>
          <p:nvPr/>
        </p:nvSpPr>
        <p:spPr>
          <a:xfrm>
            <a:off x="3474720" y="5650992"/>
            <a:ext cx="365760" cy="365760"/>
          </a:xfrm>
          <a:prstGeom prst="roundRect">
            <a:avLst>
              <a:gd name="adj" fmla="val 30000"/>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474720" y="5650992"/>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A</a:t>
            </a:r>
          </a:p>
        </p:txBody>
      </p:sp>
      <p:sp>
        <p:nvSpPr>
          <p:cNvPr id="132" name="TextBox 131"/>
          <p:cNvSpPr txBox="1"/>
          <p:nvPr/>
        </p:nvSpPr>
        <p:spPr>
          <a:xfrm>
            <a:off x="3977640" y="5605272"/>
            <a:ext cx="2057400" cy="548640"/>
          </a:xfrm>
          <a:prstGeom prst="rect">
            <a:avLst/>
          </a:prstGeom>
          <a:noFill/>
        </p:spPr>
        <p:txBody>
          <a:bodyPr wrap="square" anchor="ctr" lIns="36576" rIns="36576" tIns="18288" bIns="18288">
            <a:spAutoFit/>
          </a:bodyPr>
          <a:lstStyle/>
          <a:p>
            <a:pPr algn="l"/>
            <a:r>
              <a:rPr sz="900" b="0" i="0">
                <a:solidFill>
                  <a:srgbClr val="0F1C2E"/>
                </a:solidFill>
                <a:latin typeface="Calibri"/>
              </a:rPr>
              <a:t>Accountable — approves and has final responsibility</a:t>
            </a:r>
          </a:p>
        </p:txBody>
      </p:sp>
      <p:sp>
        <p:nvSpPr>
          <p:cNvPr id="133" name="Rounded Rectangle 132"/>
          <p:cNvSpPr/>
          <p:nvPr/>
        </p:nvSpPr>
        <p:spPr>
          <a:xfrm>
            <a:off x="6263640" y="5650992"/>
            <a:ext cx="365760" cy="365760"/>
          </a:xfrm>
          <a:prstGeom prst="roundRect">
            <a:avLst>
              <a:gd name="adj" fmla="val 30000"/>
            </a:avLst>
          </a:prstGeom>
          <a:solidFill>
            <a:srgbClr val="E0A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263640" y="5650992"/>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C</a:t>
            </a:r>
          </a:p>
        </p:txBody>
      </p:sp>
      <p:sp>
        <p:nvSpPr>
          <p:cNvPr id="135" name="TextBox 134"/>
          <p:cNvSpPr txBox="1"/>
          <p:nvPr/>
        </p:nvSpPr>
        <p:spPr>
          <a:xfrm>
            <a:off x="6766560" y="5605272"/>
            <a:ext cx="2057400" cy="548640"/>
          </a:xfrm>
          <a:prstGeom prst="rect">
            <a:avLst/>
          </a:prstGeom>
          <a:noFill/>
        </p:spPr>
        <p:txBody>
          <a:bodyPr wrap="square" anchor="ctr" lIns="36576" rIns="36576" tIns="18288" bIns="18288">
            <a:spAutoFit/>
          </a:bodyPr>
          <a:lstStyle/>
          <a:p>
            <a:pPr algn="l"/>
            <a:r>
              <a:rPr sz="900" b="0" i="0">
                <a:solidFill>
                  <a:srgbClr val="0F1C2E"/>
                </a:solidFill>
                <a:latin typeface="Calibri"/>
              </a:rPr>
              <a:t>Consulted — provides essential input</a:t>
            </a:r>
          </a:p>
        </p:txBody>
      </p:sp>
      <p:sp>
        <p:nvSpPr>
          <p:cNvPr id="136" name="Rounded Rectangle 135"/>
          <p:cNvSpPr/>
          <p:nvPr/>
        </p:nvSpPr>
        <p:spPr>
          <a:xfrm>
            <a:off x="9052560" y="5650992"/>
            <a:ext cx="365760" cy="365760"/>
          </a:xfrm>
          <a:prstGeom prst="roundRect">
            <a:avLst>
              <a:gd name="adj" fmla="val 30000"/>
            </a:avLst>
          </a:prstGeom>
          <a:solidFill>
            <a:srgbClr val="55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052560" y="5650992"/>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I</a:t>
            </a:r>
          </a:p>
        </p:txBody>
      </p:sp>
      <p:sp>
        <p:nvSpPr>
          <p:cNvPr id="138" name="TextBox 137"/>
          <p:cNvSpPr txBox="1"/>
          <p:nvPr/>
        </p:nvSpPr>
        <p:spPr>
          <a:xfrm>
            <a:off x="9555480" y="5605272"/>
            <a:ext cx="2057400" cy="548640"/>
          </a:xfrm>
          <a:prstGeom prst="rect">
            <a:avLst/>
          </a:prstGeom>
          <a:noFill/>
        </p:spPr>
        <p:txBody>
          <a:bodyPr wrap="square" anchor="ctr" lIns="36576" rIns="36576" tIns="18288" bIns="18288">
            <a:spAutoFit/>
          </a:bodyPr>
          <a:lstStyle/>
          <a:p>
            <a:pPr algn="l"/>
            <a:r>
              <a:rPr sz="900" b="0" i="0">
                <a:solidFill>
                  <a:srgbClr val="0F1C2E"/>
                </a:solidFill>
                <a:latin typeface="Calibri"/>
              </a:rPr>
              <a:t>Informed — kept informed of progress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Strategic Alignment &amp; Risk Management</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280160"/>
            <a:ext cx="109728" cy="1097280"/>
          </a:xfrm>
          <a:prstGeom prst="rect">
            <a:avLst/>
          </a:prstGeom>
          <a:solidFill>
            <a:srgbClr val="55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2648" y="1280160"/>
            <a:ext cx="11045952" cy="1097280"/>
          </a:xfrm>
          <a:prstGeom prst="roundRect">
            <a:avLst>
              <a:gd name="adj" fmla="val 6000"/>
            </a:avLst>
          </a:prstGeom>
          <a:solidFill>
            <a:srgbClr val="0F1C2E"/>
          </a:solidFill>
          <a:ln w="6350">
            <a:solidFill>
              <a:srgbClr val="0F1C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99032"/>
            <a:ext cx="10698480" cy="365760"/>
          </a:xfrm>
          <a:prstGeom prst="rect">
            <a:avLst/>
          </a:prstGeom>
          <a:noFill/>
        </p:spPr>
        <p:txBody>
          <a:bodyPr wrap="square" anchor="t" lIns="36576" rIns="36576" tIns="18288" bIns="18288">
            <a:spAutoFit/>
          </a:bodyPr>
          <a:lstStyle/>
          <a:p>
            <a:pPr algn="l"/>
            <a:r>
              <a:rPr sz="1400" b="1" i="0">
                <a:solidFill>
                  <a:srgbClr val="55C0EE"/>
                </a:solidFill>
                <a:latin typeface="Calibri"/>
              </a:rPr>
              <a:t>CRITICAL MILESTONE: TRL6 PROTOTYPE DEPLOYMENT (M14 to M18)</a:t>
            </a:r>
          </a:p>
        </p:txBody>
      </p:sp>
      <p:sp>
        <p:nvSpPr>
          <p:cNvPr id="7" name="TextBox 6"/>
          <p:cNvSpPr txBox="1"/>
          <p:nvPr/>
        </p:nvSpPr>
        <p:spPr>
          <a:xfrm>
            <a:off x="777240" y="1783080"/>
            <a:ext cx="10698480" cy="548640"/>
          </a:xfrm>
          <a:prstGeom prst="rect">
            <a:avLst/>
          </a:prstGeom>
          <a:noFill/>
        </p:spPr>
        <p:txBody>
          <a:bodyPr wrap="square" anchor="t" lIns="36576" rIns="36576" tIns="18288" bIns="18288">
            <a:spAutoFit/>
          </a:bodyPr>
          <a:lstStyle/>
          <a:p>
            <a:pPr algn="l"/>
            <a:r>
              <a:rPr sz="1000" b="0" i="0">
                <a:solidFill>
                  <a:srgbClr val="FFFFFF"/>
                </a:solidFill>
                <a:latin typeface="Calibri"/>
              </a:rPr>
              <a:t>Platform availability: Mid-August 2027 (M14)  |  First patient: Mid-September 2027 (M15)  |  AI vs Gold Std: Mid-October 2027 (M16)  |  Final report: 18 December 2027 (M18)</a:t>
            </a:r>
          </a:p>
          <a:p>
            <a:pPr algn="l"/>
            <a:r>
              <a:rPr sz="1000" b="0" i="0">
                <a:solidFill>
                  <a:srgbClr val="FFFFFF"/>
                </a:solidFill>
                <a:latin typeface="Calibri"/>
              </a:rPr>
              <a:t>Compressed window: 4 months from platform availability to final report. Risk of recruitment / analysis spillover, mitigated by pre-screening from M11 and a 2-month D5.2 interim report (mid-November 2027).</a:t>
            </a:r>
          </a:p>
        </p:txBody>
      </p:sp>
      <p:sp>
        <p:nvSpPr>
          <p:cNvPr id="8" name="Rounded Rectangle 7"/>
          <p:cNvSpPr/>
          <p:nvPr/>
        </p:nvSpPr>
        <p:spPr>
          <a:xfrm>
            <a:off x="502920" y="2606040"/>
            <a:ext cx="5532120" cy="3749039"/>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606040"/>
            <a:ext cx="5532120" cy="54864"/>
          </a:xfrm>
          <a:prstGeom prst="rect">
            <a:avLst/>
          </a:prstGeom>
          <a:solidFill>
            <a:srgbClr val="55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88920"/>
            <a:ext cx="4983480" cy="365760"/>
          </a:xfrm>
          <a:prstGeom prst="rect">
            <a:avLst/>
          </a:prstGeom>
          <a:noFill/>
        </p:spPr>
        <p:txBody>
          <a:bodyPr wrap="square" anchor="t" lIns="36576" rIns="36576" tIns="18288" bIns="18288">
            <a:spAutoFit/>
          </a:bodyPr>
          <a:lstStyle/>
          <a:p>
            <a:pPr algn="l"/>
            <a:r>
              <a:rPr sz="1400" b="1" i="0">
                <a:solidFill>
                  <a:srgbClr val="1B76D2"/>
                </a:solidFill>
                <a:latin typeface="Calibri"/>
              </a:rPr>
              <a:t>Guide Questions for DINOGMI</a:t>
            </a:r>
          </a:p>
        </p:txBody>
      </p:sp>
      <p:sp>
        <p:nvSpPr>
          <p:cNvPr id="11" name="TextBox 10"/>
          <p:cNvSpPr txBox="1"/>
          <p:nvPr/>
        </p:nvSpPr>
        <p:spPr>
          <a:xfrm>
            <a:off x="777240" y="3291840"/>
            <a:ext cx="4983480" cy="274320"/>
          </a:xfrm>
          <a:prstGeom prst="rect">
            <a:avLst/>
          </a:prstGeom>
          <a:noFill/>
        </p:spPr>
        <p:txBody>
          <a:bodyPr wrap="square" anchor="t" lIns="36576" rIns="36576" tIns="18288" bIns="18288">
            <a:spAutoFit/>
          </a:bodyPr>
          <a:lstStyle/>
          <a:p>
            <a:pPr algn="l"/>
            <a:r>
              <a:rPr sz="1100" b="1" i="0">
                <a:solidFill>
                  <a:srgbClr val="0F1C2E"/>
                </a:solidFill>
                <a:latin typeface="Calibri"/>
              </a:rPr>
              <a:t>Ethical Bureaucracy:</a:t>
            </a:r>
          </a:p>
        </p:txBody>
      </p:sp>
      <p:sp>
        <p:nvSpPr>
          <p:cNvPr id="12" name="TextBox 11"/>
          <p:cNvSpPr txBox="1"/>
          <p:nvPr/>
        </p:nvSpPr>
        <p:spPr>
          <a:xfrm>
            <a:off x="777240" y="3566160"/>
            <a:ext cx="4983480" cy="777240"/>
          </a:xfrm>
          <a:prstGeom prst="rect">
            <a:avLst/>
          </a:prstGeom>
          <a:noFill/>
        </p:spPr>
        <p:txBody>
          <a:bodyPr wrap="square" anchor="t" lIns="36576" rIns="36576" tIns="18288" bIns="18288">
            <a:spAutoFit/>
          </a:bodyPr>
          <a:lstStyle/>
          <a:p>
            <a:pPr algn="l"/>
            <a:r>
              <a:rPr sz="1000" b="0" i="0">
                <a:solidFill>
                  <a:srgbClr val="556575"/>
                </a:solidFill>
                <a:latin typeface="Calibri"/>
              </a:rPr>
              <a:t>What are the worst-case timelines for the CER? Given the protocol drafting starts after KPI sign-off at M3, what is the plan B if approval slips past M6?</a:t>
            </a:r>
          </a:p>
        </p:txBody>
      </p:sp>
      <p:sp>
        <p:nvSpPr>
          <p:cNvPr id="13" name="TextBox 12"/>
          <p:cNvSpPr txBox="1"/>
          <p:nvPr/>
        </p:nvSpPr>
        <p:spPr>
          <a:xfrm>
            <a:off x="777240" y="4343400"/>
            <a:ext cx="4983480" cy="274320"/>
          </a:xfrm>
          <a:prstGeom prst="rect">
            <a:avLst/>
          </a:prstGeom>
          <a:noFill/>
        </p:spPr>
        <p:txBody>
          <a:bodyPr wrap="square" anchor="t" lIns="36576" rIns="36576" tIns="18288" bIns="18288">
            <a:spAutoFit/>
          </a:bodyPr>
          <a:lstStyle/>
          <a:p>
            <a:pPr algn="l"/>
            <a:r>
              <a:rPr sz="1100" b="1" i="0">
                <a:solidFill>
                  <a:srgbClr val="0F1C2E"/>
                </a:solidFill>
                <a:latin typeface="Calibri"/>
              </a:rPr>
              <a:t>AI Feasibility:</a:t>
            </a:r>
          </a:p>
        </p:txBody>
      </p:sp>
      <p:sp>
        <p:nvSpPr>
          <p:cNvPr id="14" name="TextBox 13"/>
          <p:cNvSpPr txBox="1"/>
          <p:nvPr/>
        </p:nvSpPr>
        <p:spPr>
          <a:xfrm>
            <a:off x="777240" y="4617720"/>
            <a:ext cx="4983480" cy="777240"/>
          </a:xfrm>
          <a:prstGeom prst="rect">
            <a:avLst/>
          </a:prstGeom>
          <a:noFill/>
        </p:spPr>
        <p:txBody>
          <a:bodyPr wrap="square" anchor="t" lIns="36576" rIns="36576" tIns="18288" bIns="18288">
            <a:spAutoFit/>
          </a:bodyPr>
          <a:lstStyle/>
          <a:p>
            <a:pPr algn="l"/>
            <a:r>
              <a:rPr sz="1000" b="0" i="0">
                <a:solidFill>
                  <a:srgbClr val="556575"/>
                </a:solidFill>
                <a:latin typeface="Calibri"/>
              </a:rPr>
              <a:t>How do we ensure that the desk-defined biomechanical KPIs (D1.1) can be robustly extracted from markerless sensors?</a:t>
            </a:r>
          </a:p>
        </p:txBody>
      </p:sp>
      <p:sp>
        <p:nvSpPr>
          <p:cNvPr id="15" name="TextBox 14"/>
          <p:cNvSpPr txBox="1"/>
          <p:nvPr/>
        </p:nvSpPr>
        <p:spPr>
          <a:xfrm>
            <a:off x="777240" y="5394960"/>
            <a:ext cx="4983480" cy="274320"/>
          </a:xfrm>
          <a:prstGeom prst="rect">
            <a:avLst/>
          </a:prstGeom>
          <a:noFill/>
        </p:spPr>
        <p:txBody>
          <a:bodyPr wrap="square" anchor="t" lIns="36576" rIns="36576" tIns="18288" bIns="18288">
            <a:spAutoFit/>
          </a:bodyPr>
          <a:lstStyle/>
          <a:p>
            <a:pPr algn="l"/>
            <a:r>
              <a:rPr sz="1100" b="1" i="0">
                <a:solidFill>
                  <a:srgbClr val="0F1C2E"/>
                </a:solidFill>
                <a:latin typeface="Calibri"/>
              </a:rPr>
              <a:t>Bridge Phase:</a:t>
            </a:r>
          </a:p>
        </p:txBody>
      </p:sp>
      <p:sp>
        <p:nvSpPr>
          <p:cNvPr id="16" name="TextBox 15"/>
          <p:cNvSpPr txBox="1"/>
          <p:nvPr/>
        </p:nvSpPr>
        <p:spPr>
          <a:xfrm>
            <a:off x="777240" y="5669280"/>
            <a:ext cx="4983480" cy="777240"/>
          </a:xfrm>
          <a:prstGeom prst="rect">
            <a:avLst/>
          </a:prstGeom>
          <a:noFill/>
        </p:spPr>
        <p:txBody>
          <a:bodyPr wrap="square" anchor="t" lIns="36576" rIns="36576" tIns="18288" bIns="18288">
            <a:spAutoFit/>
          </a:bodyPr>
          <a:lstStyle/>
          <a:p>
            <a:pPr algn="l"/>
            <a:r>
              <a:rPr sz="1000" b="0" i="0">
                <a:solidFill>
                  <a:srgbClr val="556575"/>
                </a:solidFill>
                <a:latin typeface="Calibri"/>
              </a:rPr>
              <a:t>During the Bridge phase (M8 to M18), how do we coordinate AI iteration with WP4 integration and WP5 validation so that issues found in the trial can be triaged without invalidating it?</a:t>
            </a:r>
          </a:p>
        </p:txBody>
      </p:sp>
      <p:sp>
        <p:nvSpPr>
          <p:cNvPr id="17" name="Rounded Rectangle 16"/>
          <p:cNvSpPr/>
          <p:nvPr/>
        </p:nvSpPr>
        <p:spPr>
          <a:xfrm>
            <a:off x="6263640" y="2606040"/>
            <a:ext cx="5532120" cy="3749039"/>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2606040"/>
            <a:ext cx="5532120" cy="54864"/>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2788920"/>
            <a:ext cx="4983480" cy="365760"/>
          </a:xfrm>
          <a:prstGeom prst="rect">
            <a:avLst/>
          </a:prstGeom>
          <a:noFill/>
        </p:spPr>
        <p:txBody>
          <a:bodyPr wrap="square" anchor="t" lIns="36576" rIns="36576" tIns="18288" bIns="18288">
            <a:spAutoFit/>
          </a:bodyPr>
          <a:lstStyle/>
          <a:p>
            <a:pPr algn="l"/>
            <a:r>
              <a:rPr sz="1400" b="1" i="0">
                <a:solidFill>
                  <a:srgbClr val="1F9C88"/>
                </a:solidFill>
                <a:latin typeface="Calibri"/>
              </a:rPr>
              <a:t>Guide Questions for Buccarella Studio</a:t>
            </a:r>
          </a:p>
        </p:txBody>
      </p:sp>
      <p:sp>
        <p:nvSpPr>
          <p:cNvPr id="20" name="TextBox 19"/>
          <p:cNvSpPr txBox="1"/>
          <p:nvPr/>
        </p:nvSpPr>
        <p:spPr>
          <a:xfrm>
            <a:off x="6537960" y="3291840"/>
            <a:ext cx="4983480" cy="274320"/>
          </a:xfrm>
          <a:prstGeom prst="rect">
            <a:avLst/>
          </a:prstGeom>
          <a:noFill/>
        </p:spPr>
        <p:txBody>
          <a:bodyPr wrap="square" anchor="t" lIns="36576" rIns="36576" tIns="18288" bIns="18288">
            <a:spAutoFit/>
          </a:bodyPr>
          <a:lstStyle/>
          <a:p>
            <a:pPr algn="l"/>
            <a:r>
              <a:rPr sz="1100" b="1" i="0">
                <a:solidFill>
                  <a:srgbClr val="0F1C2E"/>
                </a:solidFill>
                <a:latin typeface="Calibri"/>
              </a:rPr>
              <a:t>Patient Recruitment:</a:t>
            </a:r>
          </a:p>
        </p:txBody>
      </p:sp>
      <p:sp>
        <p:nvSpPr>
          <p:cNvPr id="21" name="TextBox 20"/>
          <p:cNvSpPr txBox="1"/>
          <p:nvPr/>
        </p:nvSpPr>
        <p:spPr>
          <a:xfrm>
            <a:off x="6537960" y="3566160"/>
            <a:ext cx="4983480" cy="777240"/>
          </a:xfrm>
          <a:prstGeom prst="rect">
            <a:avLst/>
          </a:prstGeom>
          <a:noFill/>
        </p:spPr>
        <p:txBody>
          <a:bodyPr wrap="square" anchor="t" lIns="36576" rIns="36576" tIns="18288" bIns="18288">
            <a:spAutoFit/>
          </a:bodyPr>
          <a:lstStyle/>
          <a:p>
            <a:pPr algn="l"/>
            <a:r>
              <a:rPr sz="1000" b="0" i="0">
                <a:solidFill>
                  <a:srgbClr val="556575"/>
                </a:solidFill>
                <a:latin typeface="Calibri"/>
              </a:rPr>
              <a:t>Given a 4-month WP5 window (M14 to M18), what is a realistic estimate of eligible patients enrollable, and when should pre-screening start (M11?)</a:t>
            </a:r>
          </a:p>
        </p:txBody>
      </p:sp>
      <p:sp>
        <p:nvSpPr>
          <p:cNvPr id="22" name="TextBox 21"/>
          <p:cNvSpPr txBox="1"/>
          <p:nvPr/>
        </p:nvSpPr>
        <p:spPr>
          <a:xfrm>
            <a:off x="6537960" y="4343400"/>
            <a:ext cx="4983480" cy="274320"/>
          </a:xfrm>
          <a:prstGeom prst="rect">
            <a:avLst/>
          </a:prstGeom>
          <a:noFill/>
        </p:spPr>
        <p:txBody>
          <a:bodyPr wrap="square" anchor="t" lIns="36576" rIns="36576" tIns="18288" bIns="18288">
            <a:spAutoFit/>
          </a:bodyPr>
          <a:lstStyle/>
          <a:p>
            <a:pPr algn="l"/>
            <a:r>
              <a:rPr sz="1100" b="1" i="0">
                <a:solidFill>
                  <a:srgbClr val="0F1C2E"/>
                </a:solidFill>
                <a:latin typeface="Calibri"/>
              </a:rPr>
              <a:t>Workflow Integration:</a:t>
            </a:r>
          </a:p>
        </p:txBody>
      </p:sp>
      <p:sp>
        <p:nvSpPr>
          <p:cNvPr id="23" name="TextBox 22"/>
          <p:cNvSpPr txBox="1"/>
          <p:nvPr/>
        </p:nvSpPr>
        <p:spPr>
          <a:xfrm>
            <a:off x="6537960" y="4617720"/>
            <a:ext cx="4983480" cy="777240"/>
          </a:xfrm>
          <a:prstGeom prst="rect">
            <a:avLst/>
          </a:prstGeom>
          <a:noFill/>
        </p:spPr>
        <p:txBody>
          <a:bodyPr wrap="square" anchor="t" lIns="36576" rIns="36576" tIns="18288" bIns="18288">
            <a:spAutoFit/>
          </a:bodyPr>
          <a:lstStyle/>
          <a:p>
            <a:pPr algn="l"/>
            <a:r>
              <a:rPr sz="1000" b="0" i="0">
                <a:solidFill>
                  <a:srgbClr val="556575"/>
                </a:solidFill>
                <a:latin typeface="Calibri"/>
              </a:rPr>
              <a:t>What is the maximum acceptable time (minutes) to start the Coach in the gym, so as not to hinder the therapists?</a:t>
            </a:r>
          </a:p>
        </p:txBody>
      </p:sp>
      <p:sp>
        <p:nvSpPr>
          <p:cNvPr id="24" name="TextBox 23"/>
          <p:cNvSpPr txBox="1"/>
          <p:nvPr/>
        </p:nvSpPr>
        <p:spPr>
          <a:xfrm>
            <a:off x="6537960" y="5394960"/>
            <a:ext cx="4983480" cy="274320"/>
          </a:xfrm>
          <a:prstGeom prst="rect">
            <a:avLst/>
          </a:prstGeom>
          <a:noFill/>
        </p:spPr>
        <p:txBody>
          <a:bodyPr wrap="square" anchor="t" lIns="36576" rIns="36576" tIns="18288" bIns="18288">
            <a:spAutoFit/>
          </a:bodyPr>
          <a:lstStyle/>
          <a:p>
            <a:pPr algn="l"/>
            <a:r>
              <a:rPr sz="1100" b="1" i="0">
                <a:solidFill>
                  <a:srgbClr val="0F1C2E"/>
                </a:solidFill>
                <a:latin typeface="Calibri"/>
              </a:rPr>
              <a:t>Geriatric Usability:</a:t>
            </a:r>
          </a:p>
        </p:txBody>
      </p:sp>
      <p:sp>
        <p:nvSpPr>
          <p:cNvPr id="25" name="TextBox 24"/>
          <p:cNvSpPr txBox="1"/>
          <p:nvPr/>
        </p:nvSpPr>
        <p:spPr>
          <a:xfrm>
            <a:off x="6537960" y="5669280"/>
            <a:ext cx="4983480" cy="777240"/>
          </a:xfrm>
          <a:prstGeom prst="rect">
            <a:avLst/>
          </a:prstGeom>
          <a:noFill/>
        </p:spPr>
        <p:txBody>
          <a:bodyPr wrap="square" anchor="t" lIns="36576" rIns="36576" tIns="18288" bIns="18288">
            <a:spAutoFit/>
          </a:bodyPr>
          <a:lstStyle/>
          <a:p>
            <a:pPr algn="l"/>
            <a:r>
              <a:rPr sz="1000" b="0" i="0">
                <a:solidFill>
                  <a:srgbClr val="556575"/>
                </a:solidFill>
                <a:latin typeface="Calibri"/>
              </a:rPr>
              <a:t>How do we calibrate biofeedback (visual/auditory) to stimulate self-correction without frightening or confusing an elderly patient?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anchor="t" lIns="36576" rIns="36576" tIns="18288" bIns="18288">
            <a:spAutoFit/>
          </a:bodyPr>
          <a:lstStyle/>
          <a:p>
            <a:pPr algn="l"/>
            <a:r>
              <a:rPr sz="3000" b="1" i="0">
                <a:solidFill>
                  <a:srgbClr val="12294D"/>
                </a:solidFill>
                <a:latin typeface="Calibri"/>
              </a:rPr>
              <a:t>★ Next Steps (First 30-60 Days)</a:t>
            </a:r>
          </a:p>
        </p:txBody>
      </p:sp>
      <p:sp>
        <p:nvSpPr>
          <p:cNvPr id="3" name="Rectangle 2"/>
          <p:cNvSpPr/>
          <p:nvPr/>
        </p:nvSpPr>
        <p:spPr>
          <a:xfrm>
            <a:off x="502920" y="960120"/>
            <a:ext cx="11155680" cy="20000"/>
          </a:xfrm>
          <a:prstGeom prst="rect">
            <a:avLst/>
          </a:prstGeom>
          <a:solidFill>
            <a:srgbClr val="1F9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280160"/>
            <a:ext cx="5440680" cy="228600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80160"/>
            <a:ext cx="5440680" cy="91440"/>
          </a:xfrm>
          <a:prstGeom prst="rect">
            <a:avLst/>
          </a:prstGeom>
          <a:solidFill>
            <a:srgbClr val="55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45920"/>
            <a:ext cx="365760" cy="365760"/>
          </a:xfrm>
          <a:prstGeom prst="ellipse">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1</a:t>
            </a:r>
          </a:p>
        </p:txBody>
      </p:sp>
      <p:sp>
        <p:nvSpPr>
          <p:cNvPr id="8" name="TextBox 7"/>
          <p:cNvSpPr txBox="1"/>
          <p:nvPr/>
        </p:nvSpPr>
        <p:spPr>
          <a:xfrm>
            <a:off x="1371600" y="1600200"/>
            <a:ext cx="4343400" cy="457200"/>
          </a:xfrm>
          <a:prstGeom prst="rect">
            <a:avLst/>
          </a:prstGeom>
          <a:noFill/>
        </p:spPr>
        <p:txBody>
          <a:bodyPr wrap="square" anchor="t" lIns="36576" rIns="36576" tIns="18288" bIns="18288">
            <a:spAutoFit/>
          </a:bodyPr>
          <a:lstStyle/>
          <a:p>
            <a:pPr algn="l"/>
            <a:r>
              <a:rPr sz="1400" b="1" i="0">
                <a:solidFill>
                  <a:srgbClr val="0F1C2E"/>
                </a:solidFill>
                <a:latin typeface="Calibri"/>
              </a:rPr>
              <a:t>Formal Kick-Off Setup</a:t>
            </a:r>
          </a:p>
        </p:txBody>
      </p:sp>
      <p:sp>
        <p:nvSpPr>
          <p:cNvPr id="9" name="TextBox 8"/>
          <p:cNvSpPr txBox="1"/>
          <p:nvPr/>
        </p:nvSpPr>
        <p:spPr>
          <a:xfrm>
            <a:off x="1371600" y="2057400"/>
            <a:ext cx="4343400" cy="1463040"/>
          </a:xfrm>
          <a:prstGeom prst="rect">
            <a:avLst/>
          </a:prstGeom>
          <a:noFill/>
        </p:spPr>
        <p:txBody>
          <a:bodyPr wrap="square" anchor="t" lIns="36576" rIns="36576" tIns="18288" bIns="18288">
            <a:spAutoFit/>
          </a:bodyPr>
          <a:lstStyle/>
          <a:p>
            <a:pPr algn="l"/>
            <a:r>
              <a:rPr sz="1100" b="0" i="0">
                <a:solidFill>
                  <a:srgbClr val="556575"/>
                </a:solidFill>
                <a:latin typeface="Calibri"/>
              </a:rPr>
              <a:t>Project management tools and document-sharing setup by Innovina. 18-month GANTT alignment (Start: 18 June 2026).</a:t>
            </a:r>
          </a:p>
        </p:txBody>
      </p:sp>
      <p:sp>
        <p:nvSpPr>
          <p:cNvPr id="10" name="Rounded Rectangle 9"/>
          <p:cNvSpPr/>
          <p:nvPr/>
        </p:nvSpPr>
        <p:spPr>
          <a:xfrm>
            <a:off x="6217920" y="1280160"/>
            <a:ext cx="5440680" cy="228600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280160"/>
            <a:ext cx="5440680" cy="91440"/>
          </a:xfrm>
          <a:prstGeom prst="rect">
            <a:avLst/>
          </a:prstGeom>
          <a:solidFill>
            <a:srgbClr val="55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1645920"/>
            <a:ext cx="365760" cy="365760"/>
          </a:xfrm>
          <a:prstGeom prst="ellipse">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45920"/>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2</a:t>
            </a:r>
          </a:p>
        </p:txBody>
      </p:sp>
      <p:sp>
        <p:nvSpPr>
          <p:cNvPr id="14" name="TextBox 13"/>
          <p:cNvSpPr txBox="1"/>
          <p:nvPr/>
        </p:nvSpPr>
        <p:spPr>
          <a:xfrm>
            <a:off x="7086600" y="1600200"/>
            <a:ext cx="4343400" cy="457200"/>
          </a:xfrm>
          <a:prstGeom prst="rect">
            <a:avLst/>
          </a:prstGeom>
          <a:noFill/>
        </p:spPr>
        <p:txBody>
          <a:bodyPr wrap="square" anchor="t" lIns="36576" rIns="36576" tIns="18288" bIns="18288">
            <a:spAutoFit/>
          </a:bodyPr>
          <a:lstStyle/>
          <a:p>
            <a:pPr algn="l"/>
            <a:r>
              <a:rPr sz="1400" b="1" i="0">
                <a:solidFill>
                  <a:srgbClr val="0F1C2E"/>
                </a:solidFill>
                <a:latin typeface="Calibri"/>
              </a:rPr>
              <a:t>Technical Tables - KPI Definition</a:t>
            </a:r>
          </a:p>
        </p:txBody>
      </p:sp>
      <p:sp>
        <p:nvSpPr>
          <p:cNvPr id="15" name="TextBox 14"/>
          <p:cNvSpPr txBox="1"/>
          <p:nvPr/>
        </p:nvSpPr>
        <p:spPr>
          <a:xfrm>
            <a:off x="7086600" y="2057400"/>
            <a:ext cx="4343400" cy="1463040"/>
          </a:xfrm>
          <a:prstGeom prst="rect">
            <a:avLst/>
          </a:prstGeom>
          <a:noFill/>
        </p:spPr>
        <p:txBody>
          <a:bodyPr wrap="square" anchor="t" lIns="36576" rIns="36576" tIns="18288" bIns="18288">
            <a:spAutoFit/>
          </a:bodyPr>
          <a:lstStyle/>
          <a:p>
            <a:pPr algn="l"/>
            <a:r>
              <a:rPr sz="1100" b="0" i="0">
                <a:solidFill>
                  <a:srgbClr val="556575"/>
                </a:solidFill>
                <a:latin typeface="Calibri"/>
              </a:rPr>
              <a:t>Immediate and priority launch of technical tables (Innovina &amp; DINOGMI) for the drafting of D1.1 (Clinical Requirements and Biomechanical KPIs).</a:t>
            </a:r>
          </a:p>
        </p:txBody>
      </p:sp>
      <p:sp>
        <p:nvSpPr>
          <p:cNvPr id="16" name="Rounded Rectangle 15"/>
          <p:cNvSpPr/>
          <p:nvPr/>
        </p:nvSpPr>
        <p:spPr>
          <a:xfrm>
            <a:off x="502920" y="3886200"/>
            <a:ext cx="5440680" cy="228600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886200"/>
            <a:ext cx="5440680" cy="9144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4251960"/>
            <a:ext cx="365760" cy="365760"/>
          </a:xfrm>
          <a:prstGeom prst="ellipse">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51960"/>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3</a:t>
            </a:r>
          </a:p>
        </p:txBody>
      </p:sp>
      <p:sp>
        <p:nvSpPr>
          <p:cNvPr id="20" name="TextBox 19"/>
          <p:cNvSpPr txBox="1"/>
          <p:nvPr/>
        </p:nvSpPr>
        <p:spPr>
          <a:xfrm>
            <a:off x="1371600" y="4206240"/>
            <a:ext cx="4343400" cy="457200"/>
          </a:xfrm>
          <a:prstGeom prst="rect">
            <a:avLst/>
          </a:prstGeom>
          <a:noFill/>
        </p:spPr>
        <p:txBody>
          <a:bodyPr wrap="square" anchor="t" lIns="36576" rIns="36576" tIns="18288" bIns="18288">
            <a:spAutoFit/>
          </a:bodyPr>
          <a:lstStyle/>
          <a:p>
            <a:pPr algn="l"/>
            <a:r>
              <a:rPr sz="1400" b="1" i="0">
                <a:solidFill>
                  <a:srgbClr val="D32F2F"/>
                </a:solidFill>
                <a:latin typeface="Calibri"/>
              </a:rPr>
              <a:t>Ethics Committee Protocol (sequenced)</a:t>
            </a:r>
          </a:p>
        </p:txBody>
      </p:sp>
      <p:sp>
        <p:nvSpPr>
          <p:cNvPr id="21" name="TextBox 20"/>
          <p:cNvSpPr txBox="1"/>
          <p:nvPr/>
        </p:nvSpPr>
        <p:spPr>
          <a:xfrm>
            <a:off x="1371600" y="4663440"/>
            <a:ext cx="4343400" cy="1463040"/>
          </a:xfrm>
          <a:prstGeom prst="rect">
            <a:avLst/>
          </a:prstGeom>
          <a:noFill/>
        </p:spPr>
        <p:txBody>
          <a:bodyPr wrap="square" anchor="t" lIns="36576" rIns="36576" tIns="18288" bIns="18288">
            <a:spAutoFit/>
          </a:bodyPr>
          <a:lstStyle/>
          <a:p>
            <a:pPr algn="l"/>
            <a:r>
              <a:rPr sz="1100" b="0" i="0">
                <a:solidFill>
                  <a:srgbClr val="556575"/>
                </a:solidFill>
                <a:latin typeface="Calibri"/>
              </a:rPr>
              <a:t>Joint Innovina-DINOGMI-Buccarella drafting of the Clinical Protocol starts only AFTER D1.1 KPI sign-off (mid-August 2026), to avoid drafting in the dark. EC pre-submission window M3 to M4.</a:t>
            </a:r>
          </a:p>
        </p:txBody>
      </p:sp>
      <p:sp>
        <p:nvSpPr>
          <p:cNvPr id="22" name="Rounded Rectangle 21"/>
          <p:cNvSpPr/>
          <p:nvPr/>
        </p:nvSpPr>
        <p:spPr>
          <a:xfrm>
            <a:off x="6217920" y="3886200"/>
            <a:ext cx="5440680" cy="2286000"/>
          </a:xfrm>
          <a:prstGeom prst="roundRect">
            <a:avLst>
              <a:gd name="adj" fmla="val 6000"/>
            </a:avLst>
          </a:prstGeom>
          <a:solidFill>
            <a:srgbClr val="F4F6F9"/>
          </a:solidFill>
          <a:ln w="6350">
            <a:solidFill>
              <a:srgbClr val="CF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886200"/>
            <a:ext cx="5440680" cy="91440"/>
          </a:xfrm>
          <a:prstGeom prst="rect">
            <a:avLst/>
          </a:prstGeom>
          <a:solidFill>
            <a:srgbClr val="55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92240" y="4251960"/>
            <a:ext cx="365760" cy="365760"/>
          </a:xfrm>
          <a:prstGeom prst="ellipse">
            <a:avLst/>
          </a:prstGeom>
          <a:solidFill>
            <a:srgbClr val="1B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4251960"/>
            <a:ext cx="365760" cy="365760"/>
          </a:xfrm>
          <a:prstGeom prst="rect">
            <a:avLst/>
          </a:prstGeom>
          <a:noFill/>
        </p:spPr>
        <p:txBody>
          <a:bodyPr wrap="square" anchor="ctr" lIns="36576" rIns="36576" tIns="18288" bIns="18288">
            <a:spAutoFit/>
          </a:bodyPr>
          <a:lstStyle/>
          <a:p>
            <a:pPr algn="ctr"/>
            <a:r>
              <a:rPr sz="1000" b="1" i="0">
                <a:solidFill>
                  <a:srgbClr val="FFFFFF"/>
                </a:solidFill>
                <a:latin typeface="Calibri"/>
              </a:rPr>
              <a:t>4</a:t>
            </a:r>
          </a:p>
        </p:txBody>
      </p:sp>
      <p:sp>
        <p:nvSpPr>
          <p:cNvPr id="26" name="TextBox 25"/>
          <p:cNvSpPr txBox="1"/>
          <p:nvPr/>
        </p:nvSpPr>
        <p:spPr>
          <a:xfrm>
            <a:off x="7086600" y="4206240"/>
            <a:ext cx="4343400" cy="457200"/>
          </a:xfrm>
          <a:prstGeom prst="rect">
            <a:avLst/>
          </a:prstGeom>
          <a:noFill/>
        </p:spPr>
        <p:txBody>
          <a:bodyPr wrap="square" anchor="t" lIns="36576" rIns="36576" tIns="18288" bIns="18288">
            <a:spAutoFit/>
          </a:bodyPr>
          <a:lstStyle/>
          <a:p>
            <a:pPr algn="l"/>
            <a:r>
              <a:rPr sz="1400" b="1" i="0">
                <a:solidFill>
                  <a:srgbClr val="0F1C2E"/>
                </a:solidFill>
                <a:latin typeface="Calibri"/>
              </a:rPr>
              <a:t>Design Startup (WP2)</a:t>
            </a:r>
          </a:p>
        </p:txBody>
      </p:sp>
      <p:sp>
        <p:nvSpPr>
          <p:cNvPr id="27" name="TextBox 26"/>
          <p:cNvSpPr txBox="1"/>
          <p:nvPr/>
        </p:nvSpPr>
        <p:spPr>
          <a:xfrm>
            <a:off x="7086600" y="4663440"/>
            <a:ext cx="4343400" cy="1463040"/>
          </a:xfrm>
          <a:prstGeom prst="rect">
            <a:avLst/>
          </a:prstGeom>
          <a:noFill/>
        </p:spPr>
        <p:txBody>
          <a:bodyPr wrap="square" anchor="t" lIns="36576" rIns="36576" tIns="18288" bIns="18288">
            <a:spAutoFit/>
          </a:bodyPr>
          <a:lstStyle/>
          <a:p>
            <a:pPr algn="l"/>
            <a:r>
              <a:rPr sz="1100" b="0" i="0">
                <a:solidFill>
                  <a:srgbClr val="556575"/>
                </a:solidFill>
                <a:latin typeface="Calibri"/>
              </a:rPr>
              <a:t>Launch of cloud architecture and UI/UX analysis, gathering initial clinical feedback on user interaction and dashboard needs.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